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_rels/notesSlide5.xml.rels" ContentType="application/vnd.openxmlformats-package.relationships+xml"/>
  <Override PartName="/ppt/notesSlides/_rels/notesSlide14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25.xml.rels" ContentType="application/vnd.openxmlformats-package.relationships+xml"/>
  <Override PartName="/ppt/slides/_rels/slide26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media/image1.png" ContentType="image/png"/>
  <Override PartName="/ppt/media/image14.png" ContentType="image/png"/>
  <Override PartName="/ppt/media/image8.jpeg" ContentType="image/jpeg"/>
  <Override PartName="/ppt/media/image2.png" ContentType="image/png"/>
  <Override PartName="/ppt/media/image3.png" ContentType="image/png"/>
  <Override PartName="/ppt/media/image29.jpeg" ContentType="image/jpe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27.gif" ContentType="image/gif"/>
  <Override PartName="/ppt/media/image7.png" ContentType="image/png"/>
  <Override PartName="/ppt/media/image12.png" ContentType="image/png"/>
  <Override PartName="/ppt/media/image9.jpeg" ContentType="image/jpeg"/>
  <Override PartName="/ppt/media/image24.png" ContentType="image/png"/>
  <Override PartName="/ppt/media/image13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21.jpeg" ContentType="image/jpeg"/>
  <Override PartName="/ppt/media/image18.png" ContentType="image/png"/>
  <Override PartName="/ppt/media/image19.png" ContentType="image/png"/>
  <Override PartName="/ppt/media/image20.jpeg" ContentType="image/jpeg"/>
  <Override PartName="/ppt/media/image22.jpeg" ContentType="image/jpeg"/>
  <Override PartName="/ppt/media/image23.png" ContentType="image/png"/>
  <Override PartName="/ppt/media/image25.png" ContentType="image/png"/>
  <Override PartName="/ppt/media/image26.png" ContentType="image/png"/>
  <Override PartName="/ppt/media/image28.png" ContentType="image/png"/>
  <Override PartName="/ppt/media/image30.gif" ContentType="image/gif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Pulse para desplazar la diapositiva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CE0E65E-A2D1-4F20-A134-981683140371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06F933-EFC8-44FB-8F5C-18AE98AC365F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BF91B67-2938-42DE-9852-6A4C70ADCFAD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6C6902-69E5-45E4-8965-35933093FF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967AD1-868D-4AA3-9E12-C595D63351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17E046-996F-42CC-A11F-70146C79C4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C05271-C9DE-4D2C-9155-F28EA671F5D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EA310F-47D0-4EC6-9D22-9B34BAD061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D64313-789C-47EC-98FC-E0F47CEFA6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B5E276-0275-40AA-B8A2-9467CA5338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BAF66B-3E94-49E8-806F-42D314200C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5FB8DE-4E18-451E-91A1-749E22816B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EEEF00-7EEC-45AE-AC37-DD074E2933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6C012F-FC79-4464-B536-69DEB709BDC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45B090-C24A-4D7B-9E06-4140110EE19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E1B3C4-AFFC-4D91-83C3-B487B02792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DA376A-0DC3-431F-8105-260B6E6626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64DC43-D33A-47BC-8E39-D3F29244C9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339E4C-53BF-48DA-A674-E87B4B1EFF1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676AE0-E3A1-46E6-9F74-A199E8972E9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AA94ED-0BFB-400E-ACC9-0D36B29456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4AE32A-1B6F-4321-9C89-002DAC7EA2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3FA438-D509-469D-B836-998E29712D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2FFF4C-6056-45C5-8365-885F2FB405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40F2DC-F6E3-48A0-A41A-EC941FBC2E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4359DB-159F-4786-80B3-AA6054A1F26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186535-DADE-4A6F-A9C4-DAFAE19B7FB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indent="0">
              <a:buNone/>
            </a:pPr>
            <a:r>
              <a:rPr b="0" lang="es-ES" sz="60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DE8D6B-453D-42FA-A03E-877B156A0C34}" type="slidenum"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000"/>
          </a:bodyPr>
          <a:p>
            <a:pPr indent="0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4F8134-D01C-4097-B61D-9AE2925DFC65}" type="slidenum"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13.xml"/><Relationship Id="rId9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image" Target="../media/image21.jpeg"/><Relationship Id="rId3" Type="http://schemas.openxmlformats.org/officeDocument/2006/relationships/image" Target="../media/image22.jpe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hyperlink" Target="http://www.r2d3.us/visual-intro-to-machine-learning-part-2/" TargetMode="External"/><Relationship Id="rId3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7.gif"/><Relationship Id="rId2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jpeg"/><Relationship Id="rId3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0.gif"/><Relationship Id="rId2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523880" y="1447200"/>
            <a:ext cx="9143640" cy="21337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pc="-1" strike="noStrike">
                <a:solidFill>
                  <a:schemeClr val="lt1"/>
                </a:solidFill>
                <a:latin typeface="Calibri"/>
                <a:ea typeface="Calibri"/>
              </a:rPr>
              <a:t>Machine Learning</a:t>
            </a:r>
            <a:br>
              <a:rPr sz="6000"/>
            </a:br>
            <a:r>
              <a:rPr b="0" lang="es-ES" sz="4000" spc="-1" strike="noStrike">
                <a:solidFill>
                  <a:srgbClr val="729fcf"/>
                </a:solidFill>
                <a:latin typeface="Calibri"/>
                <a:ea typeface="Calibri"/>
              </a:rPr>
              <a:t>Conceptos</a:t>
            </a:r>
            <a:br>
              <a:rPr sz="4000"/>
            </a:br>
            <a:r>
              <a:rPr b="0" lang="es-ES" sz="4000" spc="-1" strike="noStrike">
                <a:solidFill>
                  <a:srgbClr val="729fcf"/>
                </a:solidFill>
                <a:latin typeface="Calibri"/>
                <a:ea typeface="Calibri"/>
              </a:rPr>
              <a:t>Aprendizaje Supervisado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2006640" y="1890720"/>
            <a:ext cx="8178480" cy="3076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Un modelo de Machine Learning… </a:t>
            </a:r>
            <a:r>
              <a:rPr b="0" lang="es-ES" sz="4400" spc="-1" strike="noStrike">
                <a:solidFill>
                  <a:srgbClr val="729fcf"/>
                </a:solidFill>
                <a:latin typeface="Calibri"/>
                <a:ea typeface="Calibri"/>
              </a:rPr>
              <a:t>¿Qué es un modelo?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Modelo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Concepto de modelo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Google Shape;102;p3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93" name="Google Shape;103;p3"/>
          <p:cNvSpPr/>
          <p:nvPr/>
        </p:nvSpPr>
        <p:spPr>
          <a:xfrm>
            <a:off x="587880" y="1859040"/>
            <a:ext cx="1064448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600" spc="-1" strike="noStrike">
                <a:solidFill>
                  <a:schemeClr val="lt1"/>
                </a:solidFill>
                <a:latin typeface="Calibri"/>
                <a:ea typeface="Calibri"/>
              </a:rPr>
              <a:t>Un modelo es un conjunto de fórmulas matemáticas que expresan relaciones y patrones entre variables, utilizados para estudiar comportamientos de sistemas complejos ante situaciones difíciles de observar en la realidad.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600" spc="-1" strike="noStrike">
                <a:solidFill>
                  <a:schemeClr val="lt1"/>
                </a:solidFill>
                <a:latin typeface="Calibri"/>
                <a:ea typeface="Calibri"/>
              </a:rPr>
              <a:t>Es una manera de traducir a la matemática relaciones entre datos de la vida real.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Google Shape;104;p3"/>
          <p:cNvSpPr/>
          <p:nvPr/>
        </p:nvSpPr>
        <p:spPr>
          <a:xfrm>
            <a:off x="6827760" y="3738960"/>
            <a:ext cx="1844640" cy="674280"/>
          </a:xfrm>
          <a:prstGeom prst="rect">
            <a:avLst/>
          </a:prstGeom>
          <a:noFill/>
          <a:ln w="254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Modelo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f(x)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5" name="Google Shape;105;p3"/>
          <p:cNvCxnSpPr/>
          <p:nvPr/>
        </p:nvCxnSpPr>
        <p:spPr>
          <a:xfrm>
            <a:off x="5807880" y="4076280"/>
            <a:ext cx="815760" cy="360"/>
          </a:xfrm>
          <a:prstGeom prst="straightConnector1">
            <a:avLst/>
          </a:prstGeom>
          <a:ln w="25400">
            <a:solidFill>
              <a:srgbClr val="ffffff"/>
            </a:solidFill>
            <a:miter/>
            <a:tailEnd len="med" type="triangle" w="med"/>
          </a:ln>
        </p:spPr>
      </p:cxnSp>
      <p:cxnSp>
        <p:nvCxnSpPr>
          <p:cNvPr id="96" name="Google Shape;106;p3"/>
          <p:cNvCxnSpPr/>
          <p:nvPr/>
        </p:nvCxnSpPr>
        <p:spPr>
          <a:xfrm>
            <a:off x="8781480" y="4076280"/>
            <a:ext cx="815400" cy="360"/>
          </a:xfrm>
          <a:prstGeom prst="straightConnector1">
            <a:avLst/>
          </a:prstGeom>
          <a:ln w="25400">
            <a:solidFill>
              <a:srgbClr val="ffffff"/>
            </a:solidFill>
            <a:miter/>
            <a:tailEnd len="med" type="triangle" w="med"/>
          </a:ln>
        </p:spPr>
      </p:cxnSp>
      <p:sp>
        <p:nvSpPr>
          <p:cNvPr id="97" name="Google Shape;107;p3"/>
          <p:cNvSpPr/>
          <p:nvPr/>
        </p:nvSpPr>
        <p:spPr>
          <a:xfrm>
            <a:off x="6060240" y="3706920"/>
            <a:ext cx="310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x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Google Shape;108;p3"/>
          <p:cNvSpPr/>
          <p:nvPr/>
        </p:nvSpPr>
        <p:spPr>
          <a:xfrm>
            <a:off x="8973720" y="3631680"/>
            <a:ext cx="310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y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Google Shape;109;p3"/>
          <p:cNvSpPr/>
          <p:nvPr/>
        </p:nvSpPr>
        <p:spPr>
          <a:xfrm>
            <a:off x="1791360" y="3390120"/>
            <a:ext cx="3536280" cy="15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bfbfbf"/>
                </a:solidFill>
                <a:latin typeface="Calibri"/>
                <a:ea typeface="Calibri"/>
              </a:rPr>
              <a:t>Variables que me digan la predisposición que tienen los pacientes a contraer cáncer de pulmón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bfbfbf"/>
                </a:solidFill>
                <a:latin typeface="Calibri"/>
                <a:ea typeface="Calibri"/>
              </a:rPr>
              <a:t>Variables que me indiquen si un cliente es buen o mal pagador para un banco.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bfbfbf"/>
                </a:solidFill>
                <a:latin typeface="Calibri"/>
                <a:ea typeface="Calibri"/>
              </a:rPr>
              <a:t>Qué producto estaría dispuesto a comprar un usuario X de Facebook, en función de sus gustos y búsquedas.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Google Shape;110;p3"/>
          <p:cNvSpPr/>
          <p:nvPr/>
        </p:nvSpPr>
        <p:spPr>
          <a:xfrm>
            <a:off x="542880" y="5574960"/>
            <a:ext cx="1064448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600" spc="-1" strike="noStrike">
                <a:solidFill>
                  <a:schemeClr val="lt1"/>
                </a:solidFill>
                <a:latin typeface="Calibri"/>
                <a:ea typeface="Calibri"/>
              </a:rPr>
              <a:t>Con un modelo puedo predecir cierto output, como por ejemplo si el paciente contrae o no cáncer de pulmón, a partir de un conjunto de inputs, que podrían ser edad, fumador, enfermedades previas…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498680" y="1104840"/>
            <a:ext cx="9194400" cy="4039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Parece que un modelo es algo que me sirve para hacer predicciones a partir de ciertos inputs. Ahora bien, </a:t>
            </a:r>
            <a:r>
              <a:rPr b="0" lang="es-ES" sz="4400" spc="-1" strike="noStrike">
                <a:solidFill>
                  <a:srgbClr val="729fcf"/>
                </a:solidFill>
                <a:latin typeface="Calibri"/>
                <a:ea typeface="Calibri"/>
              </a:rPr>
              <a:t>¿cómo se crea uno de estos?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Modelo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¿Cómo se crea un modelo?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Google Shape;123;p5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05" name="Google Shape;124;p5"/>
          <p:cNvSpPr/>
          <p:nvPr/>
        </p:nvSpPr>
        <p:spPr>
          <a:xfrm>
            <a:off x="587880" y="1859040"/>
            <a:ext cx="106444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Un modelo necesita un histórico de datos que le sirvan de muestra, al igual que el aprendizaje de un ser humano. Con esos datos aprende patrones para predecir el output (tiene o no cáncer), de manera que cuando vengan inputs nuevos, sabrá dar un output.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Google Shape;125;p5"/>
          <p:cNvSpPr/>
          <p:nvPr/>
        </p:nvSpPr>
        <p:spPr>
          <a:xfrm>
            <a:off x="9000360" y="3430080"/>
            <a:ext cx="1844640" cy="674280"/>
          </a:xfrm>
          <a:prstGeom prst="rect">
            <a:avLst/>
          </a:prstGeom>
          <a:noFill/>
          <a:ln w="254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Modelo entrenado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7" name="Google Shape;126;p5"/>
          <p:cNvCxnSpPr/>
          <p:nvPr/>
        </p:nvCxnSpPr>
        <p:spPr>
          <a:xfrm>
            <a:off x="7980840" y="3767400"/>
            <a:ext cx="815760" cy="360"/>
          </a:xfrm>
          <a:prstGeom prst="straightConnector1">
            <a:avLst/>
          </a:prstGeom>
          <a:ln w="25400">
            <a:solidFill>
              <a:srgbClr val="ffffff"/>
            </a:solidFill>
            <a:miter/>
            <a:tailEnd len="med" type="triangle" w="med"/>
          </a:ln>
        </p:spPr>
      </p:cxnSp>
      <p:cxnSp>
        <p:nvCxnSpPr>
          <p:cNvPr id="108" name="Google Shape;127;p5"/>
          <p:cNvCxnSpPr/>
          <p:nvPr/>
        </p:nvCxnSpPr>
        <p:spPr>
          <a:xfrm>
            <a:off x="10954080" y="3767400"/>
            <a:ext cx="815760" cy="360"/>
          </a:xfrm>
          <a:prstGeom prst="straightConnector1">
            <a:avLst/>
          </a:prstGeom>
          <a:ln w="25400">
            <a:solidFill>
              <a:srgbClr val="ffffff"/>
            </a:solidFill>
            <a:miter/>
            <a:tailEnd len="med" type="triangle" w="med"/>
          </a:ln>
        </p:spPr>
      </p:cxnSp>
      <p:sp>
        <p:nvSpPr>
          <p:cNvPr id="109" name="Google Shape;128;p5"/>
          <p:cNvSpPr/>
          <p:nvPr/>
        </p:nvSpPr>
        <p:spPr>
          <a:xfrm>
            <a:off x="8233200" y="3398040"/>
            <a:ext cx="310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x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Google Shape;129;p5"/>
          <p:cNvSpPr/>
          <p:nvPr/>
        </p:nvSpPr>
        <p:spPr>
          <a:xfrm>
            <a:off x="11146680" y="3322800"/>
            <a:ext cx="310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y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1" name="Google Shape;130;p5" descr="Icono&#10;&#10;Descripción generada automáticamente"/>
          <p:cNvPicPr/>
          <p:nvPr/>
        </p:nvPicPr>
        <p:blipFill>
          <a:blip r:embed="rId1"/>
          <a:stretch/>
        </p:blipFill>
        <p:spPr>
          <a:xfrm>
            <a:off x="380160" y="3808080"/>
            <a:ext cx="490680" cy="490680"/>
          </a:xfrm>
          <a:prstGeom prst="rect">
            <a:avLst/>
          </a:prstGeom>
          <a:ln w="0">
            <a:noFill/>
          </a:ln>
        </p:spPr>
      </p:pic>
      <p:pic>
        <p:nvPicPr>
          <p:cNvPr id="112" name="Google Shape;131;p5" descr="Icono&#10;&#10;Descripción generada automáticamente"/>
          <p:cNvPicPr/>
          <p:nvPr/>
        </p:nvPicPr>
        <p:blipFill>
          <a:blip r:embed="rId2"/>
          <a:stretch/>
        </p:blipFill>
        <p:spPr>
          <a:xfrm>
            <a:off x="380160" y="4438080"/>
            <a:ext cx="490680" cy="490680"/>
          </a:xfrm>
          <a:prstGeom prst="rect">
            <a:avLst/>
          </a:prstGeom>
          <a:ln w="0">
            <a:noFill/>
          </a:ln>
        </p:spPr>
      </p:pic>
      <p:pic>
        <p:nvPicPr>
          <p:cNvPr id="113" name="Google Shape;132;p5" descr="Icono&#10;&#10;Descripción generada automáticamente"/>
          <p:cNvPicPr/>
          <p:nvPr/>
        </p:nvPicPr>
        <p:blipFill>
          <a:blip r:embed="rId3"/>
          <a:stretch/>
        </p:blipFill>
        <p:spPr>
          <a:xfrm>
            <a:off x="380160" y="5029200"/>
            <a:ext cx="490680" cy="490680"/>
          </a:xfrm>
          <a:prstGeom prst="rect">
            <a:avLst/>
          </a:prstGeom>
          <a:ln w="0">
            <a:noFill/>
          </a:ln>
        </p:spPr>
      </p:pic>
      <p:pic>
        <p:nvPicPr>
          <p:cNvPr id="114" name="Google Shape;133;p5" descr="Icono&#10;&#10;Descripción generada automáticamente"/>
          <p:cNvPicPr/>
          <p:nvPr/>
        </p:nvPicPr>
        <p:blipFill>
          <a:blip r:embed="rId4"/>
          <a:stretch/>
        </p:blipFill>
        <p:spPr>
          <a:xfrm>
            <a:off x="380160" y="3198960"/>
            <a:ext cx="490680" cy="490680"/>
          </a:xfrm>
          <a:prstGeom prst="rect">
            <a:avLst/>
          </a:prstGeom>
          <a:ln w="0">
            <a:noFill/>
          </a:ln>
        </p:spPr>
      </p:pic>
      <p:sp>
        <p:nvSpPr>
          <p:cNvPr id="115" name="Google Shape;134;p5"/>
          <p:cNvSpPr/>
          <p:nvPr/>
        </p:nvSpPr>
        <p:spPr>
          <a:xfrm>
            <a:off x="1162800" y="2726640"/>
            <a:ext cx="1411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Fumador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16" name="Google Shape;135;p5"/>
          <p:cNvCxnSpPr/>
          <p:nvPr/>
        </p:nvCxnSpPr>
        <p:spPr>
          <a:xfrm>
            <a:off x="470880" y="3089880"/>
            <a:ext cx="4820400" cy="360"/>
          </a:xfrm>
          <a:prstGeom prst="straightConnector1">
            <a:avLst/>
          </a:prstGeom>
          <a:ln w="28575">
            <a:solidFill>
              <a:srgbClr val="c00000"/>
            </a:solidFill>
            <a:miter/>
          </a:ln>
        </p:spPr>
      </p:cxnSp>
      <p:sp>
        <p:nvSpPr>
          <p:cNvPr id="117" name="Google Shape;136;p5"/>
          <p:cNvSpPr/>
          <p:nvPr/>
        </p:nvSpPr>
        <p:spPr>
          <a:xfrm>
            <a:off x="2361600" y="2726640"/>
            <a:ext cx="11181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Edad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Google Shape;137;p5"/>
          <p:cNvSpPr/>
          <p:nvPr/>
        </p:nvSpPr>
        <p:spPr>
          <a:xfrm>
            <a:off x="3364560" y="2726640"/>
            <a:ext cx="17485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¿Ha tenido cáncer?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Google Shape;138;p5"/>
          <p:cNvSpPr/>
          <p:nvPr/>
        </p:nvSpPr>
        <p:spPr>
          <a:xfrm>
            <a:off x="1269360" y="2713320"/>
            <a:ext cx="1979280" cy="298440"/>
          </a:xfrm>
          <a:prstGeom prst="rect">
            <a:avLst/>
          </a:prstGeom>
          <a:noFill/>
          <a:ln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20" name="Google Shape;139;p5"/>
          <p:cNvSpPr/>
          <p:nvPr/>
        </p:nvSpPr>
        <p:spPr>
          <a:xfrm>
            <a:off x="1038600" y="2478600"/>
            <a:ext cx="45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X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Google Shape;140;p5"/>
          <p:cNvSpPr/>
          <p:nvPr/>
        </p:nvSpPr>
        <p:spPr>
          <a:xfrm>
            <a:off x="3444480" y="2713320"/>
            <a:ext cx="1571040" cy="297000"/>
          </a:xfrm>
          <a:prstGeom prst="rect">
            <a:avLst/>
          </a:prstGeom>
          <a:noFill/>
          <a:ln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22" name="Google Shape;141;p5"/>
          <p:cNvSpPr/>
          <p:nvPr/>
        </p:nvSpPr>
        <p:spPr>
          <a:xfrm>
            <a:off x="4935960" y="2426040"/>
            <a:ext cx="45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Y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3" name="Google Shape;142;p5" descr="Imagen que contiene Icono&#10;&#10;Descripción generada automáticamente"/>
          <p:cNvPicPr/>
          <p:nvPr/>
        </p:nvPicPr>
        <p:blipFill>
          <a:blip r:embed="rId5"/>
          <a:stretch/>
        </p:blipFill>
        <p:spPr>
          <a:xfrm>
            <a:off x="6507720" y="5152320"/>
            <a:ext cx="922680" cy="922680"/>
          </a:xfrm>
          <a:prstGeom prst="rect">
            <a:avLst/>
          </a:prstGeom>
          <a:ln w="0">
            <a:noFill/>
          </a:ln>
        </p:spPr>
      </p:pic>
      <p:sp>
        <p:nvSpPr>
          <p:cNvPr id="124" name="Google Shape;143;p5"/>
          <p:cNvSpPr/>
          <p:nvPr/>
        </p:nvSpPr>
        <p:spPr>
          <a:xfrm>
            <a:off x="6095880" y="6171480"/>
            <a:ext cx="2039400" cy="24588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rgbClr val="000000"/>
                </a:solidFill>
                <a:latin typeface="Calibri"/>
                <a:ea typeface="Calibri"/>
              </a:rPr>
              <a:t> 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Google Shape;144;p5"/>
          <p:cNvSpPr/>
          <p:nvPr/>
        </p:nvSpPr>
        <p:spPr>
          <a:xfrm>
            <a:off x="1563840" y="3230280"/>
            <a:ext cx="54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Si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Google Shape;145;p5"/>
          <p:cNvSpPr/>
          <p:nvPr/>
        </p:nvSpPr>
        <p:spPr>
          <a:xfrm>
            <a:off x="1598040" y="3941280"/>
            <a:ext cx="54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No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Google Shape;146;p5"/>
          <p:cNvSpPr/>
          <p:nvPr/>
        </p:nvSpPr>
        <p:spPr>
          <a:xfrm>
            <a:off x="1563840" y="4532400"/>
            <a:ext cx="54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Si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Google Shape;147;p5"/>
          <p:cNvSpPr/>
          <p:nvPr/>
        </p:nvSpPr>
        <p:spPr>
          <a:xfrm>
            <a:off x="1572840" y="5124600"/>
            <a:ext cx="54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Si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Google Shape;148;p5"/>
          <p:cNvSpPr/>
          <p:nvPr/>
        </p:nvSpPr>
        <p:spPr>
          <a:xfrm>
            <a:off x="2649960" y="3245760"/>
            <a:ext cx="54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57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Google Shape;149;p5"/>
          <p:cNvSpPr/>
          <p:nvPr/>
        </p:nvSpPr>
        <p:spPr>
          <a:xfrm>
            <a:off x="2649960" y="3941280"/>
            <a:ext cx="54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32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Google Shape;150;p5"/>
          <p:cNvSpPr/>
          <p:nvPr/>
        </p:nvSpPr>
        <p:spPr>
          <a:xfrm>
            <a:off x="2653560" y="4532400"/>
            <a:ext cx="54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39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Google Shape;151;p5"/>
          <p:cNvSpPr/>
          <p:nvPr/>
        </p:nvSpPr>
        <p:spPr>
          <a:xfrm>
            <a:off x="2649960" y="5092920"/>
            <a:ext cx="54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60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3" name="Google Shape;152;p5"/>
          <p:cNvCxnSpPr/>
          <p:nvPr/>
        </p:nvCxnSpPr>
        <p:spPr>
          <a:xfrm>
            <a:off x="406800" y="4359600"/>
            <a:ext cx="4820400" cy="360"/>
          </a:xfrm>
          <a:prstGeom prst="straightConnector1">
            <a:avLst/>
          </a:prstGeom>
          <a:ln w="28575">
            <a:solidFill>
              <a:srgbClr val="c00000"/>
            </a:solidFill>
            <a:miter/>
          </a:ln>
        </p:spPr>
      </p:cxnSp>
      <p:cxnSp>
        <p:nvCxnSpPr>
          <p:cNvPr id="134" name="Google Shape;153;p5"/>
          <p:cNvCxnSpPr/>
          <p:nvPr/>
        </p:nvCxnSpPr>
        <p:spPr>
          <a:xfrm>
            <a:off x="424440" y="3757320"/>
            <a:ext cx="4820400" cy="360"/>
          </a:xfrm>
          <a:prstGeom prst="straightConnector1">
            <a:avLst/>
          </a:prstGeom>
          <a:ln w="28575">
            <a:solidFill>
              <a:srgbClr val="c00000"/>
            </a:solidFill>
            <a:miter/>
          </a:ln>
        </p:spPr>
      </p:cxnSp>
      <p:cxnSp>
        <p:nvCxnSpPr>
          <p:cNvPr id="135" name="Google Shape;154;p5"/>
          <p:cNvCxnSpPr/>
          <p:nvPr/>
        </p:nvCxnSpPr>
        <p:spPr>
          <a:xfrm>
            <a:off x="406800" y="4984920"/>
            <a:ext cx="4820400" cy="360"/>
          </a:xfrm>
          <a:prstGeom prst="straightConnector1">
            <a:avLst/>
          </a:prstGeom>
          <a:ln w="28575">
            <a:solidFill>
              <a:srgbClr val="c00000"/>
            </a:solidFill>
            <a:miter/>
          </a:ln>
        </p:spPr>
      </p:cxnSp>
      <p:cxnSp>
        <p:nvCxnSpPr>
          <p:cNvPr id="136" name="Google Shape;155;p5"/>
          <p:cNvCxnSpPr/>
          <p:nvPr/>
        </p:nvCxnSpPr>
        <p:spPr>
          <a:xfrm>
            <a:off x="402480" y="5588280"/>
            <a:ext cx="4820400" cy="360"/>
          </a:xfrm>
          <a:prstGeom prst="straightConnector1">
            <a:avLst/>
          </a:prstGeom>
          <a:ln w="28575">
            <a:solidFill>
              <a:srgbClr val="c00000"/>
            </a:solidFill>
            <a:miter/>
          </a:ln>
        </p:spPr>
      </p:cxnSp>
      <p:sp>
        <p:nvSpPr>
          <p:cNvPr id="137" name="Google Shape;156;p5"/>
          <p:cNvSpPr/>
          <p:nvPr/>
        </p:nvSpPr>
        <p:spPr>
          <a:xfrm>
            <a:off x="3968280" y="3226680"/>
            <a:ext cx="54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Si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Google Shape;157;p5"/>
          <p:cNvSpPr/>
          <p:nvPr/>
        </p:nvSpPr>
        <p:spPr>
          <a:xfrm>
            <a:off x="4005720" y="3934800"/>
            <a:ext cx="54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No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Google Shape;158;p5"/>
          <p:cNvSpPr/>
          <p:nvPr/>
        </p:nvSpPr>
        <p:spPr>
          <a:xfrm>
            <a:off x="4005720" y="4518360"/>
            <a:ext cx="54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No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Google Shape;159;p5"/>
          <p:cNvSpPr/>
          <p:nvPr/>
        </p:nvSpPr>
        <p:spPr>
          <a:xfrm>
            <a:off x="4005720" y="5121000"/>
            <a:ext cx="54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No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41" name="Google Shape;160;p5"/>
          <p:cNvCxnSpPr>
            <a:stCxn id="124" idx="3"/>
            <a:endCxn id="106" idx="2"/>
          </p:cNvCxnSpPr>
          <p:nvPr/>
        </p:nvCxnSpPr>
        <p:spPr>
          <a:xfrm flipV="1">
            <a:off x="8135280" y="4104360"/>
            <a:ext cx="1787760" cy="2190240"/>
          </a:xfrm>
          <a:prstGeom prst="bentConnector2">
            <a:avLst/>
          </a:prstGeom>
          <a:ln w="38100">
            <a:solidFill>
              <a:srgbClr val="c00000"/>
            </a:solidFill>
            <a:miter/>
            <a:tailEnd len="med" type="triangle" w="med"/>
          </a:ln>
        </p:spPr>
      </p:cxnSp>
      <p:pic>
        <p:nvPicPr>
          <p:cNvPr id="142" name="Google Shape;161;p5" descr="Imagen que contiene dibujo&#10;&#10;Descripción generada automáticamente"/>
          <p:cNvPicPr/>
          <p:nvPr/>
        </p:nvPicPr>
        <p:blipFill>
          <a:blip r:embed="rId7"/>
          <a:stretch/>
        </p:blipFill>
        <p:spPr>
          <a:xfrm>
            <a:off x="6990120" y="3301200"/>
            <a:ext cx="881640" cy="881640"/>
          </a:xfrm>
          <a:prstGeom prst="rect">
            <a:avLst/>
          </a:prstGeom>
          <a:ln w="0">
            <a:noFill/>
          </a:ln>
        </p:spPr>
      </p:pic>
      <p:sp>
        <p:nvSpPr>
          <p:cNvPr id="143" name="Google Shape;162;p5"/>
          <p:cNvSpPr/>
          <p:nvPr/>
        </p:nvSpPr>
        <p:spPr>
          <a:xfrm>
            <a:off x="6503040" y="4119480"/>
            <a:ext cx="9968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100" spc="-1" strike="noStrike">
                <a:solidFill>
                  <a:schemeClr val="lt1"/>
                </a:solidFill>
                <a:latin typeface="Calibri"/>
                <a:ea typeface="Calibri"/>
              </a:rPr>
              <a:t>No fumador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Google Shape;163;p5"/>
          <p:cNvSpPr/>
          <p:nvPr/>
        </p:nvSpPr>
        <p:spPr>
          <a:xfrm>
            <a:off x="7391520" y="4125960"/>
            <a:ext cx="9968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100" spc="-1" strike="noStrike">
                <a:solidFill>
                  <a:schemeClr val="lt1"/>
                </a:solidFill>
                <a:latin typeface="Calibri"/>
                <a:ea typeface="Calibri"/>
              </a:rPr>
              <a:t>68 años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Google Shape;164;p5"/>
          <p:cNvSpPr/>
          <p:nvPr/>
        </p:nvSpPr>
        <p:spPr>
          <a:xfrm>
            <a:off x="10845720" y="4043880"/>
            <a:ext cx="9968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100" spc="-1" strike="noStrike">
                <a:solidFill>
                  <a:schemeClr val="lt1"/>
                </a:solidFill>
                <a:latin typeface="Calibri"/>
                <a:ea typeface="Calibri"/>
              </a:rPr>
              <a:t>Si/No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Google Shape;165;p5"/>
          <p:cNvSpPr/>
          <p:nvPr/>
        </p:nvSpPr>
        <p:spPr>
          <a:xfrm>
            <a:off x="6725160" y="2981520"/>
            <a:ext cx="1411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rgbClr val="c00000"/>
                </a:solidFill>
                <a:latin typeface="Calibri"/>
                <a:ea typeface="Calibri"/>
              </a:rPr>
              <a:t>CASOS NUEVOS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Google Shape;166;p5"/>
          <p:cNvSpPr/>
          <p:nvPr/>
        </p:nvSpPr>
        <p:spPr>
          <a:xfrm>
            <a:off x="10676160" y="2977200"/>
            <a:ext cx="1411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rgbClr val="c00000"/>
                </a:solidFill>
                <a:latin typeface="Calibri"/>
                <a:ea typeface="Calibri"/>
              </a:rPr>
              <a:t>PREDICCIONES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Target &amp; Features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X e Y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Google Shape;173;p6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51" name="Google Shape;174;p6"/>
          <p:cNvSpPr/>
          <p:nvPr/>
        </p:nvSpPr>
        <p:spPr>
          <a:xfrm>
            <a:off x="622800" y="1744200"/>
            <a:ext cx="10433160" cy="22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Esto es pura terminología de Machine Learning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600" spc="-1" strike="noStrike" u="sng">
                <a:solidFill>
                  <a:schemeClr val="lt1"/>
                </a:solidFill>
                <a:uFillTx/>
                <a:latin typeface="Calibri"/>
                <a:ea typeface="Calibri"/>
              </a:rPr>
              <a:t>Target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Se trata de la variable objetivo, la variable a predecir, el output del modelo. Por norma general es una única variable, ya sea numérica o categórica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600" spc="-1" strike="noStrike" u="sng">
                <a:solidFill>
                  <a:schemeClr val="lt1"/>
                </a:solidFill>
                <a:uFillTx/>
                <a:latin typeface="Calibri"/>
                <a:ea typeface="Calibri"/>
              </a:rPr>
              <a:t>Features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Todo el resto de variables utilizadas como input del modelo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Google Shape;175;p6"/>
          <p:cNvSpPr/>
          <p:nvPr/>
        </p:nvSpPr>
        <p:spPr>
          <a:xfrm>
            <a:off x="1978200" y="4798800"/>
            <a:ext cx="1844640" cy="674280"/>
          </a:xfrm>
          <a:prstGeom prst="rect">
            <a:avLst/>
          </a:prstGeom>
          <a:noFill/>
          <a:ln w="254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Modelo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f(x)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53" name="Google Shape;176;p6"/>
          <p:cNvCxnSpPr/>
          <p:nvPr/>
        </p:nvCxnSpPr>
        <p:spPr>
          <a:xfrm>
            <a:off x="958680" y="5136120"/>
            <a:ext cx="815400" cy="360"/>
          </a:xfrm>
          <a:prstGeom prst="straightConnector1">
            <a:avLst/>
          </a:prstGeom>
          <a:ln w="25400">
            <a:solidFill>
              <a:srgbClr val="ffffff"/>
            </a:solidFill>
            <a:miter/>
            <a:tailEnd len="med" type="triangle" w="med"/>
          </a:ln>
        </p:spPr>
      </p:cxnSp>
      <p:cxnSp>
        <p:nvCxnSpPr>
          <p:cNvPr id="154" name="Google Shape;177;p6"/>
          <p:cNvCxnSpPr/>
          <p:nvPr/>
        </p:nvCxnSpPr>
        <p:spPr>
          <a:xfrm>
            <a:off x="3931920" y="5136120"/>
            <a:ext cx="815760" cy="360"/>
          </a:xfrm>
          <a:prstGeom prst="straightConnector1">
            <a:avLst/>
          </a:prstGeom>
          <a:ln w="25400">
            <a:solidFill>
              <a:srgbClr val="ffffff"/>
            </a:solidFill>
            <a:miter/>
            <a:tailEnd len="med" type="triangle" w="med"/>
          </a:ln>
        </p:spPr>
      </p:cxnSp>
      <p:sp>
        <p:nvSpPr>
          <p:cNvPr id="155" name="Google Shape;178;p6"/>
          <p:cNvSpPr/>
          <p:nvPr/>
        </p:nvSpPr>
        <p:spPr>
          <a:xfrm>
            <a:off x="1211040" y="4767120"/>
            <a:ext cx="310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x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Google Shape;179;p6"/>
          <p:cNvSpPr/>
          <p:nvPr/>
        </p:nvSpPr>
        <p:spPr>
          <a:xfrm>
            <a:off x="4124520" y="4691520"/>
            <a:ext cx="310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y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7" name="Google Shape;180;p6" descr="Icono&#10;&#10;Descripción generada automáticamente"/>
          <p:cNvPicPr/>
          <p:nvPr/>
        </p:nvPicPr>
        <p:blipFill>
          <a:blip r:embed="rId1"/>
          <a:stretch/>
        </p:blipFill>
        <p:spPr>
          <a:xfrm>
            <a:off x="6126120" y="4429440"/>
            <a:ext cx="490680" cy="490680"/>
          </a:xfrm>
          <a:prstGeom prst="rect">
            <a:avLst/>
          </a:prstGeom>
          <a:ln w="0">
            <a:noFill/>
          </a:ln>
        </p:spPr>
      </p:pic>
      <p:pic>
        <p:nvPicPr>
          <p:cNvPr id="158" name="Google Shape;181;p6" descr="Icono&#10;&#10;Descripción generada automáticamente"/>
          <p:cNvPicPr/>
          <p:nvPr/>
        </p:nvPicPr>
        <p:blipFill>
          <a:blip r:embed="rId2"/>
          <a:stretch/>
        </p:blipFill>
        <p:spPr>
          <a:xfrm>
            <a:off x="6126120" y="5059080"/>
            <a:ext cx="490680" cy="490680"/>
          </a:xfrm>
          <a:prstGeom prst="rect">
            <a:avLst/>
          </a:prstGeom>
          <a:ln w="0">
            <a:noFill/>
          </a:ln>
        </p:spPr>
      </p:pic>
      <p:pic>
        <p:nvPicPr>
          <p:cNvPr id="159" name="Google Shape;182;p6" descr="Icono&#10;&#10;Descripción generada automáticamente"/>
          <p:cNvPicPr/>
          <p:nvPr/>
        </p:nvPicPr>
        <p:blipFill>
          <a:blip r:embed="rId3"/>
          <a:stretch/>
        </p:blipFill>
        <p:spPr>
          <a:xfrm>
            <a:off x="6126120" y="5650560"/>
            <a:ext cx="490680" cy="490680"/>
          </a:xfrm>
          <a:prstGeom prst="rect">
            <a:avLst/>
          </a:prstGeom>
          <a:ln w="0">
            <a:noFill/>
          </a:ln>
        </p:spPr>
      </p:pic>
      <p:pic>
        <p:nvPicPr>
          <p:cNvPr id="160" name="Google Shape;183;p6" descr="Icono&#10;&#10;Descripción generada automáticamente"/>
          <p:cNvPicPr/>
          <p:nvPr/>
        </p:nvPicPr>
        <p:blipFill>
          <a:blip r:embed="rId4"/>
          <a:stretch/>
        </p:blipFill>
        <p:spPr>
          <a:xfrm>
            <a:off x="6126120" y="3820320"/>
            <a:ext cx="490680" cy="490680"/>
          </a:xfrm>
          <a:prstGeom prst="rect">
            <a:avLst/>
          </a:prstGeom>
          <a:ln w="0">
            <a:noFill/>
          </a:ln>
        </p:spPr>
      </p:pic>
      <p:sp>
        <p:nvSpPr>
          <p:cNvPr id="161" name="Google Shape;184;p6"/>
          <p:cNvSpPr/>
          <p:nvPr/>
        </p:nvSpPr>
        <p:spPr>
          <a:xfrm>
            <a:off x="6908760" y="3348000"/>
            <a:ext cx="1411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Fumador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62" name="Google Shape;185;p6"/>
          <p:cNvCxnSpPr/>
          <p:nvPr/>
        </p:nvCxnSpPr>
        <p:spPr>
          <a:xfrm>
            <a:off x="6216840" y="3711240"/>
            <a:ext cx="4820400" cy="360"/>
          </a:xfrm>
          <a:prstGeom prst="straightConnector1">
            <a:avLst/>
          </a:prstGeom>
          <a:ln w="28575">
            <a:solidFill>
              <a:srgbClr val="c00000"/>
            </a:solidFill>
            <a:miter/>
          </a:ln>
        </p:spPr>
      </p:cxnSp>
      <p:sp>
        <p:nvSpPr>
          <p:cNvPr id="163" name="Google Shape;186;p6"/>
          <p:cNvSpPr/>
          <p:nvPr/>
        </p:nvSpPr>
        <p:spPr>
          <a:xfrm>
            <a:off x="8107200" y="3348000"/>
            <a:ext cx="11181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Edad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Google Shape;187;p6"/>
          <p:cNvSpPr/>
          <p:nvPr/>
        </p:nvSpPr>
        <p:spPr>
          <a:xfrm>
            <a:off x="9110520" y="3348000"/>
            <a:ext cx="17485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¿Ha tenido cáncer?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Google Shape;188;p6"/>
          <p:cNvSpPr/>
          <p:nvPr/>
        </p:nvSpPr>
        <p:spPr>
          <a:xfrm>
            <a:off x="7015320" y="3334680"/>
            <a:ext cx="1979280" cy="298440"/>
          </a:xfrm>
          <a:prstGeom prst="rect">
            <a:avLst/>
          </a:prstGeom>
          <a:noFill/>
          <a:ln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66" name="Google Shape;189;p6"/>
          <p:cNvSpPr/>
          <p:nvPr/>
        </p:nvSpPr>
        <p:spPr>
          <a:xfrm>
            <a:off x="7270200" y="2994120"/>
            <a:ext cx="1502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X (features)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Google Shape;190;p6"/>
          <p:cNvSpPr/>
          <p:nvPr/>
        </p:nvSpPr>
        <p:spPr>
          <a:xfrm>
            <a:off x="9190440" y="3334680"/>
            <a:ext cx="1571040" cy="297000"/>
          </a:xfrm>
          <a:prstGeom prst="rect">
            <a:avLst/>
          </a:prstGeom>
          <a:noFill/>
          <a:ln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68" name="Google Shape;191;p6"/>
          <p:cNvSpPr/>
          <p:nvPr/>
        </p:nvSpPr>
        <p:spPr>
          <a:xfrm>
            <a:off x="9421200" y="3009600"/>
            <a:ext cx="1164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Y (target)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Google Shape;192;p6"/>
          <p:cNvSpPr/>
          <p:nvPr/>
        </p:nvSpPr>
        <p:spPr>
          <a:xfrm>
            <a:off x="7309800" y="3851640"/>
            <a:ext cx="54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Si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Google Shape;193;p6"/>
          <p:cNvSpPr/>
          <p:nvPr/>
        </p:nvSpPr>
        <p:spPr>
          <a:xfrm>
            <a:off x="7343640" y="4562640"/>
            <a:ext cx="54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No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Google Shape;194;p6"/>
          <p:cNvSpPr/>
          <p:nvPr/>
        </p:nvSpPr>
        <p:spPr>
          <a:xfrm>
            <a:off x="7309800" y="5153400"/>
            <a:ext cx="54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Si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Google Shape;195;p6"/>
          <p:cNvSpPr/>
          <p:nvPr/>
        </p:nvSpPr>
        <p:spPr>
          <a:xfrm>
            <a:off x="7318800" y="5745960"/>
            <a:ext cx="54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Si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Google Shape;196;p6"/>
          <p:cNvSpPr/>
          <p:nvPr/>
        </p:nvSpPr>
        <p:spPr>
          <a:xfrm>
            <a:off x="8395920" y="3867120"/>
            <a:ext cx="54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57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Google Shape;197;p6"/>
          <p:cNvSpPr/>
          <p:nvPr/>
        </p:nvSpPr>
        <p:spPr>
          <a:xfrm>
            <a:off x="8395920" y="4562640"/>
            <a:ext cx="54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32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Google Shape;198;p6"/>
          <p:cNvSpPr/>
          <p:nvPr/>
        </p:nvSpPr>
        <p:spPr>
          <a:xfrm>
            <a:off x="8399160" y="5153400"/>
            <a:ext cx="54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39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Google Shape;199;p6"/>
          <p:cNvSpPr/>
          <p:nvPr/>
        </p:nvSpPr>
        <p:spPr>
          <a:xfrm>
            <a:off x="8395920" y="5714280"/>
            <a:ext cx="54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60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77" name="Google Shape;200;p6"/>
          <p:cNvCxnSpPr/>
          <p:nvPr/>
        </p:nvCxnSpPr>
        <p:spPr>
          <a:xfrm>
            <a:off x="6152760" y="4980960"/>
            <a:ext cx="4820400" cy="360"/>
          </a:xfrm>
          <a:prstGeom prst="straightConnector1">
            <a:avLst/>
          </a:prstGeom>
          <a:ln w="28575">
            <a:solidFill>
              <a:srgbClr val="c00000"/>
            </a:solidFill>
            <a:miter/>
          </a:ln>
        </p:spPr>
      </p:cxnSp>
      <p:cxnSp>
        <p:nvCxnSpPr>
          <p:cNvPr id="178" name="Google Shape;201;p6"/>
          <p:cNvCxnSpPr/>
          <p:nvPr/>
        </p:nvCxnSpPr>
        <p:spPr>
          <a:xfrm>
            <a:off x="6170400" y="4378680"/>
            <a:ext cx="4820400" cy="360"/>
          </a:xfrm>
          <a:prstGeom prst="straightConnector1">
            <a:avLst/>
          </a:prstGeom>
          <a:ln w="28575">
            <a:solidFill>
              <a:srgbClr val="c00000"/>
            </a:solidFill>
            <a:miter/>
          </a:ln>
        </p:spPr>
      </p:cxnSp>
      <p:cxnSp>
        <p:nvCxnSpPr>
          <p:cNvPr id="179" name="Google Shape;202;p6"/>
          <p:cNvCxnSpPr/>
          <p:nvPr/>
        </p:nvCxnSpPr>
        <p:spPr>
          <a:xfrm>
            <a:off x="6152760" y="5605920"/>
            <a:ext cx="4820400" cy="360"/>
          </a:xfrm>
          <a:prstGeom prst="straightConnector1">
            <a:avLst/>
          </a:prstGeom>
          <a:ln w="28575">
            <a:solidFill>
              <a:srgbClr val="c00000"/>
            </a:solidFill>
            <a:miter/>
          </a:ln>
        </p:spPr>
      </p:cxnSp>
      <p:cxnSp>
        <p:nvCxnSpPr>
          <p:cNvPr id="180" name="Google Shape;203;p6"/>
          <p:cNvCxnSpPr/>
          <p:nvPr/>
        </p:nvCxnSpPr>
        <p:spPr>
          <a:xfrm>
            <a:off x="6148080" y="6209640"/>
            <a:ext cx="4820400" cy="360"/>
          </a:xfrm>
          <a:prstGeom prst="straightConnector1">
            <a:avLst/>
          </a:prstGeom>
          <a:ln w="28575">
            <a:solidFill>
              <a:srgbClr val="c00000"/>
            </a:solidFill>
            <a:miter/>
          </a:ln>
        </p:spPr>
      </p:cxnSp>
      <p:sp>
        <p:nvSpPr>
          <p:cNvPr id="181" name="Google Shape;204;p6"/>
          <p:cNvSpPr/>
          <p:nvPr/>
        </p:nvSpPr>
        <p:spPr>
          <a:xfrm>
            <a:off x="9714240" y="3848040"/>
            <a:ext cx="54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Si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Google Shape;205;p6"/>
          <p:cNvSpPr/>
          <p:nvPr/>
        </p:nvSpPr>
        <p:spPr>
          <a:xfrm>
            <a:off x="9751680" y="4556160"/>
            <a:ext cx="54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No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Google Shape;206;p6"/>
          <p:cNvSpPr/>
          <p:nvPr/>
        </p:nvSpPr>
        <p:spPr>
          <a:xfrm>
            <a:off x="9751680" y="5139720"/>
            <a:ext cx="54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No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Google Shape;207;p6"/>
          <p:cNvSpPr/>
          <p:nvPr/>
        </p:nvSpPr>
        <p:spPr>
          <a:xfrm>
            <a:off x="9751680" y="5742360"/>
            <a:ext cx="54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No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3" dur="indefinite" restart="never" nodeType="tmRoot">
          <p:childTnLst>
            <p:seq>
              <p:cTn id="104" dur="indefinite" nodeType="mainSeq">
                <p:childTnLst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2006640" y="1890720"/>
            <a:ext cx="8178480" cy="3076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Existen varios tipos de modelos… </a:t>
            </a:r>
            <a:r>
              <a:rPr b="0" lang="es-ES" sz="4400" spc="-1" strike="noStrike">
                <a:solidFill>
                  <a:srgbClr val="729fcf"/>
                </a:solidFill>
                <a:latin typeface="Calibri"/>
                <a:ea typeface="Calibri"/>
              </a:rPr>
              <a:t>¿Cómo se que he elegido el que da mejores resultados?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Modelo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¿Es bueno el modelo elegido?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Google Shape;219;p8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pic>
        <p:nvPicPr>
          <p:cNvPr id="189" name="Google Shape;220;p8" descr="FOTOS] Así era la vida de Bailey, la perrita que se hizo viral por meme &quot;no  tengo idea qué estoy haciendo&quot; - Meganoticias"/>
          <p:cNvPicPr/>
          <p:nvPr/>
        </p:nvPicPr>
        <p:blipFill>
          <a:blip r:embed="rId1"/>
          <a:stretch/>
        </p:blipFill>
        <p:spPr>
          <a:xfrm>
            <a:off x="638640" y="3251520"/>
            <a:ext cx="3058920" cy="1941480"/>
          </a:xfrm>
          <a:prstGeom prst="rect">
            <a:avLst/>
          </a:prstGeom>
          <a:ln w="0">
            <a:noFill/>
          </a:ln>
        </p:spPr>
      </p:pic>
      <p:sp>
        <p:nvSpPr>
          <p:cNvPr id="190" name="Google Shape;221;p8"/>
          <p:cNvSpPr/>
          <p:nvPr/>
        </p:nvSpPr>
        <p:spPr>
          <a:xfrm>
            <a:off x="340920" y="2454840"/>
            <a:ext cx="3654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¿Cuál es el mejor modelo para nuestros datos?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Google Shape;222;p8"/>
          <p:cNvSpPr/>
          <p:nvPr/>
        </p:nvSpPr>
        <p:spPr>
          <a:xfrm>
            <a:off x="5028120" y="2684880"/>
            <a:ext cx="18928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Método científico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2" name="Google Shape;223;p8" descr="The scientific method is a process for experimentation"/>
          <p:cNvPicPr/>
          <p:nvPr/>
        </p:nvPicPr>
        <p:blipFill>
          <a:blip r:embed="rId2"/>
          <a:stretch/>
        </p:blipFill>
        <p:spPr>
          <a:xfrm>
            <a:off x="4804560" y="3036960"/>
            <a:ext cx="2437920" cy="2437920"/>
          </a:xfrm>
          <a:prstGeom prst="rect">
            <a:avLst/>
          </a:prstGeom>
          <a:ln w="0">
            <a:noFill/>
          </a:ln>
        </p:spPr>
      </p:pic>
      <p:sp>
        <p:nvSpPr>
          <p:cNvPr id="193" name="Google Shape;224;p8"/>
          <p:cNvSpPr/>
          <p:nvPr/>
        </p:nvSpPr>
        <p:spPr>
          <a:xfrm>
            <a:off x="8060760" y="2684160"/>
            <a:ext cx="349236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De momento…Minimizar errores.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Encontrar un modelo que prediga con la menor cantidad de errores posible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4" name="Google Shape;225;p8" descr="Gradient Descent — ML Glossary documentation"/>
          <p:cNvPicPr/>
          <p:nvPr/>
        </p:nvPicPr>
        <p:blipFill>
          <a:blip r:embed="rId3"/>
          <a:stretch/>
        </p:blipFill>
        <p:spPr>
          <a:xfrm>
            <a:off x="8429760" y="3499920"/>
            <a:ext cx="2648520" cy="1974960"/>
          </a:xfrm>
          <a:prstGeom prst="rect">
            <a:avLst/>
          </a:prstGeom>
          <a:ln w="0">
            <a:noFill/>
          </a:ln>
        </p:spPr>
      </p:pic>
      <p:sp>
        <p:nvSpPr>
          <p:cNvPr id="195" name="Google Shape;226;p8"/>
          <p:cNvSpPr/>
          <p:nvPr/>
        </p:nvSpPr>
        <p:spPr>
          <a:xfrm>
            <a:off x="326880" y="2731320"/>
            <a:ext cx="365472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A priori no lo sabemos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Google Shape;227;p8"/>
          <p:cNvSpPr/>
          <p:nvPr/>
        </p:nvSpPr>
        <p:spPr>
          <a:xfrm>
            <a:off x="4733640" y="2423520"/>
            <a:ext cx="25376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¿Cómo solucionamos esto?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Google Shape;228;p8"/>
          <p:cNvSpPr/>
          <p:nvPr/>
        </p:nvSpPr>
        <p:spPr>
          <a:xfrm>
            <a:off x="8208000" y="2425320"/>
            <a:ext cx="30916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¿Qué objetivo perseguimos?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3" dur="indefinite" restart="never" nodeType="tmRoot">
          <p:childTnLst>
            <p:seq>
              <p:cTn id="164" dur="indefinite" nodeType="mainSeq">
                <p:childTnLst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2006640" y="1890720"/>
            <a:ext cx="8178480" cy="3076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Entonces hay que probar varios modelos.</a:t>
            </a:r>
            <a:br>
              <a:rPr sz="4400"/>
            </a:br>
            <a:r>
              <a:rPr b="0" lang="es-ES" sz="4400" spc="-1" strike="noStrike">
                <a:solidFill>
                  <a:srgbClr val="729fcf"/>
                </a:solidFill>
                <a:latin typeface="Calibri"/>
                <a:ea typeface="Calibri"/>
              </a:rPr>
              <a:t>Nos quedaremos con el mejor. Vamos a probar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Modelo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¿Cuál es el mejor modelo?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Google Shape;240;p10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02" name="Google Shape;241;p10"/>
          <p:cNvSpPr/>
          <p:nvPr/>
        </p:nvSpPr>
        <p:spPr>
          <a:xfrm>
            <a:off x="1103760" y="2243520"/>
            <a:ext cx="219852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Modelo 1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Regresión lineal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Google Shape;242;p10"/>
          <p:cNvSpPr/>
          <p:nvPr/>
        </p:nvSpPr>
        <p:spPr>
          <a:xfrm>
            <a:off x="968040" y="5258160"/>
            <a:ext cx="22096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Error = 63.0 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Google Shape;243;p10"/>
          <p:cNvSpPr/>
          <p:nvPr/>
        </p:nvSpPr>
        <p:spPr>
          <a:xfrm>
            <a:off x="5024520" y="5267160"/>
            <a:ext cx="23601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Error = 51.5 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Google Shape;244;p10"/>
          <p:cNvSpPr/>
          <p:nvPr/>
        </p:nvSpPr>
        <p:spPr>
          <a:xfrm>
            <a:off x="8938440" y="5243760"/>
            <a:ext cx="21938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Error = 49.2 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Google Shape;245;p10"/>
          <p:cNvSpPr/>
          <p:nvPr/>
        </p:nvSpPr>
        <p:spPr>
          <a:xfrm>
            <a:off x="7677360" y="5638320"/>
            <a:ext cx="42588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¡Bingo! Parece que he encontrado el mejor modelo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7" name="Google Shape;246;p10" descr=""/>
          <p:cNvPicPr/>
          <p:nvPr/>
        </p:nvPicPr>
        <p:blipFill>
          <a:blip r:embed="rId1"/>
          <a:stretch/>
        </p:blipFill>
        <p:spPr>
          <a:xfrm>
            <a:off x="8118000" y="2812680"/>
            <a:ext cx="3377520" cy="2203200"/>
          </a:xfrm>
          <a:prstGeom prst="rect">
            <a:avLst/>
          </a:prstGeom>
          <a:ln w="0">
            <a:noFill/>
          </a:ln>
        </p:spPr>
      </p:pic>
      <p:pic>
        <p:nvPicPr>
          <p:cNvPr id="208" name="Google Shape;247;p10" descr=""/>
          <p:cNvPicPr/>
          <p:nvPr/>
        </p:nvPicPr>
        <p:blipFill>
          <a:blip r:embed="rId2"/>
          <a:stretch/>
        </p:blipFill>
        <p:spPr>
          <a:xfrm>
            <a:off x="4758480" y="2802600"/>
            <a:ext cx="2786760" cy="2277360"/>
          </a:xfrm>
          <a:prstGeom prst="rect">
            <a:avLst/>
          </a:prstGeom>
          <a:ln w="0">
            <a:noFill/>
          </a:ln>
        </p:spPr>
      </p:pic>
      <p:pic>
        <p:nvPicPr>
          <p:cNvPr id="209" name="Google Shape;248;p10" descr=""/>
          <p:cNvPicPr/>
          <p:nvPr/>
        </p:nvPicPr>
        <p:blipFill>
          <a:blip r:embed="rId3"/>
          <a:stretch/>
        </p:blipFill>
        <p:spPr>
          <a:xfrm>
            <a:off x="542880" y="2802600"/>
            <a:ext cx="3320280" cy="2223720"/>
          </a:xfrm>
          <a:prstGeom prst="rect">
            <a:avLst/>
          </a:prstGeom>
          <a:ln w="0">
            <a:noFill/>
          </a:ln>
        </p:spPr>
      </p:pic>
      <p:sp>
        <p:nvSpPr>
          <p:cNvPr id="210" name="Google Shape;249;p10"/>
          <p:cNvSpPr/>
          <p:nvPr/>
        </p:nvSpPr>
        <p:spPr>
          <a:xfrm>
            <a:off x="4996440" y="2243520"/>
            <a:ext cx="219852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Modelo 2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Regresión polinómica grado 2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Google Shape;250;p10"/>
          <p:cNvSpPr/>
          <p:nvPr/>
        </p:nvSpPr>
        <p:spPr>
          <a:xfrm>
            <a:off x="8707680" y="2243520"/>
            <a:ext cx="219852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Modelo 3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Regresión polinómica grado &gt; 2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1" dur="indefinite" restart="never" nodeType="tmRoot">
          <p:childTnLst>
            <p:seq>
              <p:cTn id="192" dur="indefinite" nodeType="mainSeq">
                <p:childTnLst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2006640" y="1890720"/>
            <a:ext cx="8178480" cy="3076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¡Ya tenemos el modelo! </a:t>
            </a:r>
            <a:r>
              <a:rPr b="0" lang="es-ES" sz="4400" spc="-1" strike="noStrike">
                <a:solidFill>
                  <a:srgbClr val="729fcf"/>
                </a:solidFill>
                <a:latin typeface="Calibri"/>
                <a:ea typeface="Calibri"/>
              </a:rPr>
              <a:t>Vamos a ponerlo en producción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432360" y="2128320"/>
            <a:ext cx="3139200" cy="608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2400" spc="-1" strike="noStrike">
                <a:solidFill>
                  <a:schemeClr val="lt1"/>
                </a:solidFill>
                <a:latin typeface="Calibri"/>
                <a:ea typeface="Calibri"/>
              </a:rPr>
              <a:t>Error = 87.9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4" name="Google Shape;261;p12" descr=""/>
          <p:cNvPicPr/>
          <p:nvPr/>
        </p:nvPicPr>
        <p:blipFill>
          <a:blip r:embed="rId1"/>
          <a:stretch/>
        </p:blipFill>
        <p:spPr>
          <a:xfrm>
            <a:off x="585360" y="2850840"/>
            <a:ext cx="2909520" cy="2183400"/>
          </a:xfrm>
          <a:prstGeom prst="rect">
            <a:avLst/>
          </a:prstGeom>
          <a:ln w="0">
            <a:noFill/>
          </a:ln>
        </p:spPr>
      </p:pic>
      <p:sp>
        <p:nvSpPr>
          <p:cNvPr id="215" name="Google Shape;262;p12"/>
          <p:cNvSpPr/>
          <p:nvPr/>
        </p:nvSpPr>
        <p:spPr>
          <a:xfrm>
            <a:off x="3975840" y="2563920"/>
            <a:ext cx="3897000" cy="24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000" spc="-1" strike="noStrike">
                <a:solidFill>
                  <a:schemeClr val="lt1"/>
                </a:solidFill>
                <a:latin typeface="Calibri"/>
                <a:ea typeface="Calibri"/>
              </a:rPr>
              <a:t>¿Problema?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600" spc="-1" strike="noStrike">
                <a:solidFill>
                  <a:schemeClr val="lt1"/>
                </a:solidFill>
                <a:latin typeface="Calibri"/>
                <a:ea typeface="Calibri"/>
              </a:rPr>
              <a:t>El modelo no </a:t>
            </a:r>
            <a:r>
              <a:rPr b="1" i="1" lang="es-ES" sz="1600" spc="-1" strike="noStrike">
                <a:solidFill>
                  <a:schemeClr val="lt1"/>
                </a:solidFill>
                <a:latin typeface="Calibri"/>
                <a:ea typeface="Calibri"/>
              </a:rPr>
              <a:t>generaliza</a:t>
            </a:r>
            <a:r>
              <a:rPr b="0" i="1" lang="es-ES" sz="1600" spc="-1" strike="noStrike">
                <a:solidFill>
                  <a:schemeClr val="lt1"/>
                </a:solidFill>
                <a:latin typeface="Calibri"/>
                <a:ea typeface="Calibri"/>
              </a:rPr>
              <a:t> bien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000" spc="-1" strike="noStrike">
                <a:solidFill>
                  <a:schemeClr val="lt1"/>
                </a:solidFill>
                <a:latin typeface="Calibri"/>
                <a:ea typeface="Calibri"/>
              </a:rPr>
              <a:t>¿Solución?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s-ES" sz="1600" spc="-1" strike="noStrike">
                <a:solidFill>
                  <a:schemeClr val="lt1"/>
                </a:solidFill>
                <a:latin typeface="Calibri"/>
                <a:ea typeface="Calibri"/>
              </a:rPr>
              <a:t>Dividir en train/test. Guardo unos datos de test, ajenos completamente al entrenamiento. Y pruebo el modelo entrenado, a ver qué tal generaliza con datos nuevos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6" name="Google Shape;263;p12" descr=""/>
          <p:cNvPicPr/>
          <p:nvPr/>
        </p:nvPicPr>
        <p:blipFill>
          <a:blip r:embed="rId2"/>
          <a:stretch/>
        </p:blipFill>
        <p:spPr>
          <a:xfrm>
            <a:off x="8162640" y="2563920"/>
            <a:ext cx="3677040" cy="2584800"/>
          </a:xfrm>
          <a:prstGeom prst="rect">
            <a:avLst/>
          </a:prstGeom>
          <a:ln w="0">
            <a:noFill/>
          </a:ln>
        </p:spPr>
      </p:pic>
      <p:sp>
        <p:nvSpPr>
          <p:cNvPr id="217" name="Google Shape;264;p12"/>
          <p:cNvSpPr/>
          <p:nvPr/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Objetivo de un modelo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Generalizar ante datos nuevos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Google Shape;266;p12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3" dur="indefinite" restart="never" nodeType="tmRoot">
          <p:childTnLst>
            <p:seq>
              <p:cTn id="214" dur="indefinite" nodeType="mainSeq">
                <p:childTnLst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54874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Train - test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División del dataset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Google Shape;273;p13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23" name="Google Shape;274;p13"/>
          <p:cNvSpPr/>
          <p:nvPr/>
        </p:nvSpPr>
        <p:spPr>
          <a:xfrm>
            <a:off x="888840" y="2157120"/>
            <a:ext cx="1578600" cy="3417120"/>
          </a:xfrm>
          <a:prstGeom prst="rect">
            <a:avLst/>
          </a:prstGeom>
          <a:solidFill>
            <a:srgbClr val="8da9db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100 %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de los datos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Google Shape;275;p13"/>
          <p:cNvSpPr/>
          <p:nvPr/>
        </p:nvSpPr>
        <p:spPr>
          <a:xfrm>
            <a:off x="3250440" y="2187000"/>
            <a:ext cx="1578600" cy="843120"/>
          </a:xfrm>
          <a:prstGeom prst="rect">
            <a:avLst/>
          </a:prstGeom>
          <a:solidFill>
            <a:srgbClr val="d8e2f3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  <a:ea typeface="Calibri"/>
              </a:rPr>
              <a:t>~ 20 %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  <a:ea typeface="Calibri"/>
              </a:rPr>
              <a:t>Test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Google Shape;276;p13"/>
          <p:cNvSpPr/>
          <p:nvPr/>
        </p:nvSpPr>
        <p:spPr>
          <a:xfrm>
            <a:off x="3250440" y="3137040"/>
            <a:ext cx="1578600" cy="2529720"/>
          </a:xfrm>
          <a:prstGeom prst="rect">
            <a:avLst/>
          </a:prstGeom>
          <a:solidFill>
            <a:srgbClr val="0070c0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~ 80 %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Train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Google Shape;277;p13"/>
          <p:cNvSpPr/>
          <p:nvPr/>
        </p:nvSpPr>
        <p:spPr>
          <a:xfrm>
            <a:off x="2583360" y="3719880"/>
            <a:ext cx="559080" cy="2480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pic>
        <p:nvPicPr>
          <p:cNvPr id="227" name="Google Shape;278;p13" descr="Imagen que contiene Icono&#10;&#10;Descripción generada automáticamente"/>
          <p:cNvPicPr/>
          <p:nvPr/>
        </p:nvPicPr>
        <p:blipFill>
          <a:blip r:embed="rId1"/>
          <a:stretch/>
        </p:blipFill>
        <p:spPr>
          <a:xfrm>
            <a:off x="6344640" y="4273920"/>
            <a:ext cx="922680" cy="922680"/>
          </a:xfrm>
          <a:prstGeom prst="rect">
            <a:avLst/>
          </a:prstGeom>
          <a:ln w="0">
            <a:noFill/>
          </a:ln>
        </p:spPr>
      </p:pic>
      <p:sp>
        <p:nvSpPr>
          <p:cNvPr id="228" name="Google Shape;279;p13"/>
          <p:cNvSpPr/>
          <p:nvPr/>
        </p:nvSpPr>
        <p:spPr>
          <a:xfrm>
            <a:off x="5660640" y="5312520"/>
            <a:ext cx="2451600" cy="2458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rgbClr val="000000"/>
                </a:solidFill>
                <a:latin typeface="Calibri"/>
                <a:ea typeface="Calibri"/>
              </a:rPr>
              <a:t> 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Google Shape;280;p13"/>
          <p:cNvSpPr/>
          <p:nvPr/>
        </p:nvSpPr>
        <p:spPr>
          <a:xfrm>
            <a:off x="5101560" y="4554360"/>
            <a:ext cx="559080" cy="2480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30" name="Google Shape;281;p13"/>
          <p:cNvSpPr/>
          <p:nvPr/>
        </p:nvSpPr>
        <p:spPr>
          <a:xfrm>
            <a:off x="8424720" y="1959840"/>
            <a:ext cx="1031040" cy="369000"/>
          </a:xfrm>
          <a:prstGeom prst="rect">
            <a:avLst/>
          </a:prstGeom>
          <a:noFill/>
          <a:ln w="254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Modelo entrenado 1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Google Shape;282;p13"/>
          <p:cNvSpPr/>
          <p:nvPr/>
        </p:nvSpPr>
        <p:spPr>
          <a:xfrm>
            <a:off x="8424720" y="2594160"/>
            <a:ext cx="1031040" cy="369000"/>
          </a:xfrm>
          <a:prstGeom prst="rect">
            <a:avLst/>
          </a:prstGeom>
          <a:noFill/>
          <a:ln w="254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Modelo entrenado 2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Google Shape;283;p13"/>
          <p:cNvSpPr/>
          <p:nvPr/>
        </p:nvSpPr>
        <p:spPr>
          <a:xfrm>
            <a:off x="8424720" y="3229200"/>
            <a:ext cx="1031040" cy="369000"/>
          </a:xfrm>
          <a:prstGeom prst="rect">
            <a:avLst/>
          </a:prstGeom>
          <a:noFill/>
          <a:ln w="254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Modelo entrenado 3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Google Shape;284;p13"/>
          <p:cNvSpPr/>
          <p:nvPr/>
        </p:nvSpPr>
        <p:spPr>
          <a:xfrm>
            <a:off x="8424720" y="3859920"/>
            <a:ext cx="1031040" cy="369000"/>
          </a:xfrm>
          <a:prstGeom prst="rect">
            <a:avLst/>
          </a:prstGeom>
          <a:noFill/>
          <a:ln w="254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Modelo entrenado 4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Google Shape;285;p13"/>
          <p:cNvSpPr/>
          <p:nvPr/>
        </p:nvSpPr>
        <p:spPr>
          <a:xfrm>
            <a:off x="3183840" y="1726560"/>
            <a:ext cx="177192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100" spc="-1" strike="noStrike">
                <a:solidFill>
                  <a:schemeClr val="lt1"/>
                </a:solidFill>
                <a:latin typeface="Calibri"/>
                <a:ea typeface="Calibri"/>
              </a:rPr>
              <a:t>Datos nuevos que no ha visto el modelo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35" name="Google Shape;286;p13"/>
          <p:cNvCxnSpPr/>
          <p:nvPr/>
        </p:nvCxnSpPr>
        <p:spPr>
          <a:xfrm flipV="1">
            <a:off x="7741080" y="4489920"/>
            <a:ext cx="1177560" cy="313200"/>
          </a:xfrm>
          <a:prstGeom prst="bentConnector3">
            <a:avLst>
              <a:gd name="adj1" fmla="val 99755"/>
            </a:avLst>
          </a:prstGeom>
          <a:ln w="38100">
            <a:solidFill>
              <a:srgbClr val="4472c4"/>
            </a:solidFill>
            <a:miter/>
            <a:tailEnd len="med" type="triangle" w="med"/>
          </a:ln>
        </p:spPr>
      </p:cxnSp>
      <p:cxnSp>
        <p:nvCxnSpPr>
          <p:cNvPr id="236" name="Google Shape;287;p13"/>
          <p:cNvCxnSpPr/>
          <p:nvPr/>
        </p:nvCxnSpPr>
        <p:spPr>
          <a:xfrm>
            <a:off x="9579960" y="2157120"/>
            <a:ext cx="678960" cy="360"/>
          </a:xfrm>
          <a:prstGeom prst="straightConnector1">
            <a:avLst/>
          </a:prstGeom>
          <a:ln w="38100">
            <a:solidFill>
              <a:srgbClr val="4472c4"/>
            </a:solidFill>
            <a:miter/>
            <a:tailEnd len="med" type="triangle" w="med"/>
          </a:ln>
        </p:spPr>
      </p:cxnSp>
      <p:cxnSp>
        <p:nvCxnSpPr>
          <p:cNvPr id="237" name="Google Shape;288;p13"/>
          <p:cNvCxnSpPr/>
          <p:nvPr/>
        </p:nvCxnSpPr>
        <p:spPr>
          <a:xfrm>
            <a:off x="9579960" y="2801160"/>
            <a:ext cx="678960" cy="360"/>
          </a:xfrm>
          <a:prstGeom prst="straightConnector1">
            <a:avLst/>
          </a:prstGeom>
          <a:ln w="38100">
            <a:solidFill>
              <a:srgbClr val="4472c4"/>
            </a:solidFill>
            <a:miter/>
            <a:tailEnd len="med" type="triangle" w="med"/>
          </a:ln>
        </p:spPr>
      </p:cxnSp>
      <p:cxnSp>
        <p:nvCxnSpPr>
          <p:cNvPr id="238" name="Google Shape;289;p13"/>
          <p:cNvCxnSpPr/>
          <p:nvPr/>
        </p:nvCxnSpPr>
        <p:spPr>
          <a:xfrm>
            <a:off x="9579960" y="3429000"/>
            <a:ext cx="678960" cy="360"/>
          </a:xfrm>
          <a:prstGeom prst="straightConnector1">
            <a:avLst/>
          </a:prstGeom>
          <a:ln w="38100">
            <a:solidFill>
              <a:srgbClr val="4472c4"/>
            </a:solidFill>
            <a:miter/>
            <a:tailEnd len="med" type="triangle" w="med"/>
          </a:ln>
        </p:spPr>
      </p:cxnSp>
      <p:cxnSp>
        <p:nvCxnSpPr>
          <p:cNvPr id="239" name="Google Shape;290;p13"/>
          <p:cNvCxnSpPr/>
          <p:nvPr/>
        </p:nvCxnSpPr>
        <p:spPr>
          <a:xfrm>
            <a:off x="9579960" y="4068000"/>
            <a:ext cx="678960" cy="360"/>
          </a:xfrm>
          <a:prstGeom prst="straightConnector1">
            <a:avLst/>
          </a:prstGeom>
          <a:ln w="38100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240" name="Google Shape;291;p13"/>
          <p:cNvSpPr/>
          <p:nvPr/>
        </p:nvSpPr>
        <p:spPr>
          <a:xfrm>
            <a:off x="7808040" y="4898880"/>
            <a:ext cx="177192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100" spc="-1" strike="noStrike">
                <a:solidFill>
                  <a:schemeClr val="lt1"/>
                </a:solidFill>
                <a:latin typeface="Calibri"/>
                <a:ea typeface="Calibri"/>
              </a:rPr>
              <a:t>Entreno varios modelos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Google Shape;292;p13"/>
          <p:cNvSpPr/>
          <p:nvPr/>
        </p:nvSpPr>
        <p:spPr>
          <a:xfrm>
            <a:off x="10258920" y="2026440"/>
            <a:ext cx="124632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100" spc="-1" strike="noStrike">
                <a:solidFill>
                  <a:schemeClr val="lt1"/>
                </a:solidFill>
                <a:latin typeface="Calibri"/>
                <a:ea typeface="Calibri"/>
              </a:rPr>
              <a:t>Errores en pred.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Google Shape;293;p13"/>
          <p:cNvSpPr/>
          <p:nvPr/>
        </p:nvSpPr>
        <p:spPr>
          <a:xfrm>
            <a:off x="10258920" y="2676960"/>
            <a:ext cx="124632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100" spc="-1" strike="noStrike">
                <a:solidFill>
                  <a:schemeClr val="lt1"/>
                </a:solidFill>
                <a:latin typeface="Calibri"/>
                <a:ea typeface="Calibri"/>
              </a:rPr>
              <a:t>Errores en pred.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Google Shape;294;p13"/>
          <p:cNvSpPr/>
          <p:nvPr/>
        </p:nvSpPr>
        <p:spPr>
          <a:xfrm>
            <a:off x="10258920" y="3283200"/>
            <a:ext cx="124632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100" spc="-1" strike="noStrike">
                <a:solidFill>
                  <a:schemeClr val="lt1"/>
                </a:solidFill>
                <a:latin typeface="Calibri"/>
                <a:ea typeface="Calibri"/>
              </a:rPr>
              <a:t>Errores en pred.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Google Shape;295;p13"/>
          <p:cNvSpPr/>
          <p:nvPr/>
        </p:nvSpPr>
        <p:spPr>
          <a:xfrm>
            <a:off x="10258920" y="3968280"/>
            <a:ext cx="124632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100" spc="-1" strike="noStrike">
                <a:solidFill>
                  <a:schemeClr val="lt1"/>
                </a:solidFill>
                <a:latin typeface="Calibri"/>
                <a:ea typeface="Calibri"/>
              </a:rPr>
              <a:t>Errores en pred.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45" name="Google Shape;296;p13"/>
          <p:cNvCxnSpPr>
            <a:endCxn id="230" idx="1"/>
          </p:cNvCxnSpPr>
          <p:nvPr/>
        </p:nvCxnSpPr>
        <p:spPr>
          <a:xfrm flipV="1">
            <a:off x="5101560" y="2144160"/>
            <a:ext cx="3323520" cy="532800"/>
          </a:xfrm>
          <a:prstGeom prst="bentConnector3">
            <a:avLst>
              <a:gd name="adj1" fmla="val 50005"/>
            </a:avLst>
          </a:prstGeom>
          <a:ln w="38100">
            <a:solidFill>
              <a:srgbClr val="dae3f3"/>
            </a:solidFill>
            <a:miter/>
            <a:tailEnd len="med" type="triangle" w="med"/>
          </a:ln>
        </p:spPr>
      </p:cxnSp>
      <p:cxnSp>
        <p:nvCxnSpPr>
          <p:cNvPr id="246" name="Google Shape;297;p13"/>
          <p:cNvCxnSpPr>
            <a:endCxn id="231" idx="1"/>
          </p:cNvCxnSpPr>
          <p:nvPr/>
        </p:nvCxnSpPr>
        <p:spPr>
          <a:xfrm>
            <a:off x="5101560" y="2676600"/>
            <a:ext cx="3323520" cy="102240"/>
          </a:xfrm>
          <a:prstGeom prst="bentConnector3">
            <a:avLst>
              <a:gd name="adj1" fmla="val 50005"/>
            </a:avLst>
          </a:prstGeom>
          <a:ln w="38100">
            <a:solidFill>
              <a:srgbClr val="dae3f3"/>
            </a:solidFill>
            <a:miter/>
            <a:tailEnd len="med" type="triangle" w="med"/>
          </a:ln>
        </p:spPr>
      </p:cxnSp>
      <p:cxnSp>
        <p:nvCxnSpPr>
          <p:cNvPr id="247" name="Google Shape;298;p13"/>
          <p:cNvCxnSpPr>
            <a:endCxn id="232" idx="1"/>
          </p:cNvCxnSpPr>
          <p:nvPr/>
        </p:nvCxnSpPr>
        <p:spPr>
          <a:xfrm>
            <a:off x="5101560" y="2673720"/>
            <a:ext cx="3323520" cy="740160"/>
          </a:xfrm>
          <a:prstGeom prst="bentConnector3">
            <a:avLst>
              <a:gd name="adj1" fmla="val 50005"/>
            </a:avLst>
          </a:prstGeom>
          <a:ln w="38100">
            <a:solidFill>
              <a:srgbClr val="dae3f3"/>
            </a:solidFill>
            <a:miter/>
            <a:tailEnd len="med" type="triangle" w="med"/>
          </a:ln>
        </p:spPr>
      </p:cxnSp>
      <p:cxnSp>
        <p:nvCxnSpPr>
          <p:cNvPr id="248" name="Google Shape;299;p13"/>
          <p:cNvCxnSpPr>
            <a:endCxn id="233" idx="1"/>
          </p:cNvCxnSpPr>
          <p:nvPr/>
        </p:nvCxnSpPr>
        <p:spPr>
          <a:xfrm>
            <a:off x="5124600" y="2673720"/>
            <a:ext cx="3300480" cy="1370880"/>
          </a:xfrm>
          <a:prstGeom prst="bentConnector3">
            <a:avLst>
              <a:gd name="adj1" fmla="val 50005"/>
            </a:avLst>
          </a:prstGeom>
          <a:ln w="38100">
            <a:solidFill>
              <a:srgbClr val="dae3f3"/>
            </a:solidFill>
            <a:miter/>
            <a:tailEnd len="med" type="triangle" w="med"/>
          </a:ln>
        </p:spPr>
      </p:cxnSp>
      <p:sp>
        <p:nvSpPr>
          <p:cNvPr id="249" name="Google Shape;300;p13"/>
          <p:cNvSpPr/>
          <p:nvPr/>
        </p:nvSpPr>
        <p:spPr>
          <a:xfrm>
            <a:off x="2738880" y="5787000"/>
            <a:ext cx="246456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100" spc="-1" strike="noStrike">
                <a:solidFill>
                  <a:schemeClr val="lt1"/>
                </a:solidFill>
                <a:latin typeface="Calibri"/>
                <a:ea typeface="Calibri"/>
              </a:rPr>
              <a:t>¿Cuántos datos guardo para test?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100" spc="-1" strike="noStrike">
                <a:solidFill>
                  <a:schemeClr val="lt1"/>
                </a:solidFill>
                <a:latin typeface="Calibri"/>
                <a:ea typeface="Calibri"/>
              </a:rPr>
              <a:t>Entre un 15-30 %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Google Shape;301;p13"/>
          <p:cNvSpPr/>
          <p:nvPr/>
        </p:nvSpPr>
        <p:spPr>
          <a:xfrm>
            <a:off x="9919440" y="4622400"/>
            <a:ext cx="1771920" cy="16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100" spc="-1" strike="noStrike">
                <a:solidFill>
                  <a:schemeClr val="lt1"/>
                </a:solidFill>
                <a:latin typeface="Calibri"/>
                <a:ea typeface="Calibri"/>
              </a:rPr>
              <a:t>¿Objetivo?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s-ES" sz="1100" spc="-1" strike="noStrike">
                <a:solidFill>
                  <a:schemeClr val="lt1"/>
                </a:solidFill>
                <a:latin typeface="Calibri"/>
                <a:ea typeface="Calibri"/>
              </a:rPr>
              <a:t>1. Elegir el modelo con menor cantidad de </a:t>
            </a:r>
            <a:r>
              <a:rPr b="1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errores</a:t>
            </a:r>
            <a:r>
              <a:rPr b="0" lang="es-ES" sz="1100" spc="-1" strike="noStrike">
                <a:solidFill>
                  <a:schemeClr val="lt1"/>
                </a:solidFill>
                <a:latin typeface="Calibri"/>
                <a:ea typeface="Calibri"/>
              </a:rPr>
              <a:t>.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s-ES" sz="1100" spc="-1" strike="noStrike">
                <a:solidFill>
                  <a:schemeClr val="lt1"/>
                </a:solidFill>
                <a:latin typeface="Calibri"/>
                <a:ea typeface="Calibri"/>
              </a:rPr>
              <a:t>2. Que funcione bien en test, </a:t>
            </a:r>
            <a:r>
              <a:rPr b="1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que generalice.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Google Shape;302;p13"/>
          <p:cNvSpPr/>
          <p:nvPr/>
        </p:nvSpPr>
        <p:spPr>
          <a:xfrm>
            <a:off x="5660640" y="5625720"/>
            <a:ext cx="2460960" cy="24588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rgbClr val="000000"/>
                </a:solidFill>
                <a:latin typeface="Calibri"/>
                <a:ea typeface="Calibri"/>
              </a:rPr>
              <a:t> 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Google Shape;303;p13"/>
          <p:cNvSpPr/>
          <p:nvPr/>
        </p:nvSpPr>
        <p:spPr>
          <a:xfrm>
            <a:off x="5660640" y="5961600"/>
            <a:ext cx="2460960" cy="24588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rgbClr val="000000"/>
                </a:solidFill>
                <a:latin typeface="Calibri"/>
                <a:ea typeface="Calibri"/>
              </a:rPr>
              <a:t> 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Google Shape;304;p13"/>
          <p:cNvSpPr/>
          <p:nvPr/>
        </p:nvSpPr>
        <p:spPr>
          <a:xfrm>
            <a:off x="5660640" y="6282720"/>
            <a:ext cx="2448720" cy="24588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rgbClr val="000000"/>
                </a:solidFill>
                <a:latin typeface="Calibri"/>
                <a:ea typeface="Calibri"/>
              </a:rPr>
              <a:t> 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1" dur="indefinite" restart="never" nodeType="tmRoot">
          <p:childTnLst>
            <p:seq>
              <p:cTn id="222" dur="indefinite" nodeType="mainSeq">
                <p:childTnLst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452520" y="2148480"/>
            <a:ext cx="2786400" cy="999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1. Entreno para el examen</a:t>
            </a:r>
            <a:br>
              <a:rPr sz="1400"/>
            </a:br>
            <a:r>
              <a:rPr b="0" i="1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¿Cómo? Con ejercicios</a:t>
            </a:r>
            <a:br>
              <a:rPr sz="1200"/>
            </a:br>
            <a:r>
              <a:rPr b="0" i="1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Aprendo a resolver problemas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Google Shape;311;p14"/>
          <p:cNvSpPr/>
          <p:nvPr/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Examen de matemáticas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Google Shape;312;p14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57" name="Google Shape;313;p14"/>
          <p:cNvSpPr/>
          <p:nvPr/>
        </p:nvSpPr>
        <p:spPr>
          <a:xfrm>
            <a:off x="3735360" y="2148480"/>
            <a:ext cx="3402000" cy="9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2. ¿Cómo se que he aprendido la lección?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Con un examen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Google Shape;314;p14"/>
          <p:cNvSpPr/>
          <p:nvPr/>
        </p:nvSpPr>
        <p:spPr>
          <a:xfrm>
            <a:off x="407520" y="5297760"/>
            <a:ext cx="2786400" cy="9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Resolución de problemas con solución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Google Shape;315;p14"/>
          <p:cNvSpPr/>
          <p:nvPr/>
        </p:nvSpPr>
        <p:spPr>
          <a:xfrm>
            <a:off x="4043160" y="5298840"/>
            <a:ext cx="2786400" cy="9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Resolución de problemas sin solución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Google Shape;316;p14"/>
          <p:cNvSpPr/>
          <p:nvPr/>
        </p:nvSpPr>
        <p:spPr>
          <a:xfrm>
            <a:off x="7514280" y="2148480"/>
            <a:ext cx="3859200" cy="9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3. ¿Cómo se si el examen ha sido bueno?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0" i="1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Contando errores y aciertos en el examen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Google Shape;317;p14"/>
          <p:cNvSpPr/>
          <p:nvPr/>
        </p:nvSpPr>
        <p:spPr>
          <a:xfrm>
            <a:off x="8050680" y="5298840"/>
            <a:ext cx="2786400" cy="9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Comparo ejercicios resueltos por el alumno vs soluciones.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Métrica empleada para medir errores.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2" name="Google Shape;318;p14" descr="5 Tips to Help Kids Look Forward to Math | Scholastic | Parents"/>
          <p:cNvPicPr/>
          <p:nvPr/>
        </p:nvPicPr>
        <p:blipFill>
          <a:blip r:embed="rId1"/>
          <a:stretch/>
        </p:blipFill>
        <p:spPr>
          <a:xfrm>
            <a:off x="716760" y="3368160"/>
            <a:ext cx="2347560" cy="1760040"/>
          </a:xfrm>
          <a:prstGeom prst="rect">
            <a:avLst/>
          </a:prstGeom>
          <a:ln w="0">
            <a:noFill/>
          </a:ln>
        </p:spPr>
      </p:pic>
      <p:pic>
        <p:nvPicPr>
          <p:cNvPr id="263" name="Google Shape;319;p14" descr="Iran's university entrance exam announces top scorers - Tehran Times"/>
          <p:cNvPicPr/>
          <p:nvPr/>
        </p:nvPicPr>
        <p:blipFill>
          <a:blip r:embed="rId2"/>
          <a:stretch/>
        </p:blipFill>
        <p:spPr>
          <a:xfrm>
            <a:off x="3894120" y="3318480"/>
            <a:ext cx="3084480" cy="1724040"/>
          </a:xfrm>
          <a:prstGeom prst="rect">
            <a:avLst/>
          </a:prstGeom>
          <a:ln w="0">
            <a:noFill/>
          </a:ln>
        </p:spPr>
      </p:pic>
      <p:pic>
        <p:nvPicPr>
          <p:cNvPr id="264" name="Google Shape;320;p14" descr="Nine Easy Steps to Get Good Marks in Exam | Tips and Tricks - Tyrocity"/>
          <p:cNvPicPr/>
          <p:nvPr/>
        </p:nvPicPr>
        <p:blipFill>
          <a:blip r:embed="rId3"/>
          <a:stretch/>
        </p:blipFill>
        <p:spPr>
          <a:xfrm>
            <a:off x="8397000" y="3233160"/>
            <a:ext cx="2094120" cy="1895040"/>
          </a:xfrm>
          <a:prstGeom prst="rect">
            <a:avLst/>
          </a:prstGeom>
          <a:ln w="0">
            <a:noFill/>
          </a:ln>
        </p:spPr>
      </p:pic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¿Cómo aprendo matemáticas?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1" dur="indefinite" restart="never" nodeType="tmRoot">
          <p:childTnLst>
            <p:seq>
              <p:cTn id="292" dur="indefinite" nodeType="mainSeq">
                <p:childTnLst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2006640" y="1890720"/>
            <a:ext cx="8178480" cy="3076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rgbClr val="729fcf"/>
                </a:solidFill>
                <a:latin typeface="Calibri"/>
                <a:ea typeface="Calibri"/>
              </a:rPr>
              <a:t>¿Qué ocurre si estudiamos de memoria los problemas de examen de clase?</a:t>
            </a:r>
            <a:endParaRPr b="0" lang="es-ES" sz="4400" spc="-1" strike="noStrike">
              <a:solidFill>
                <a:srgbClr val="729fc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Overfitting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Google Shape;332;p16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pic>
        <p:nvPicPr>
          <p:cNvPr id="269" name="Google Shape;333;p16" descr=""/>
          <p:cNvPicPr/>
          <p:nvPr/>
        </p:nvPicPr>
        <p:blipFill>
          <a:blip r:embed="rId1"/>
          <a:stretch/>
        </p:blipFill>
        <p:spPr>
          <a:xfrm>
            <a:off x="6095880" y="1634760"/>
            <a:ext cx="4104000" cy="2677320"/>
          </a:xfrm>
          <a:prstGeom prst="rect">
            <a:avLst/>
          </a:prstGeom>
          <a:ln w="0">
            <a:noFill/>
          </a:ln>
        </p:spPr>
      </p:pic>
      <p:sp>
        <p:nvSpPr>
          <p:cNvPr id="270" name="Google Shape;334;p16"/>
          <p:cNvSpPr/>
          <p:nvPr/>
        </p:nvSpPr>
        <p:spPr>
          <a:xfrm>
            <a:off x="587880" y="1634760"/>
            <a:ext cx="4207680" cy="22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Si estudiamos los problemas de memoria y nos cambian una coma en el examen, no vamos a saber resolverlo.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Estoy </a:t>
            </a:r>
            <a:r>
              <a:rPr b="1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ajustándome demasiado a mis problemas </a:t>
            </a: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de entrenamiento y </a:t>
            </a:r>
            <a:r>
              <a:rPr b="1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no voy a poder generalizar</a:t>
            </a: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/resolver nuevos problemas, desconocidos para mí.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Tengo que aprender los patrones de los problemas, y la manera de resolverlos, no aprendérmelos de memoria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Google Shape;335;p16"/>
          <p:cNvSpPr/>
          <p:nvPr/>
        </p:nvSpPr>
        <p:spPr>
          <a:xfrm>
            <a:off x="587880" y="4784760"/>
            <a:ext cx="3974760" cy="11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400" spc="-1" strike="noStrike" u="sng">
                <a:solidFill>
                  <a:schemeClr val="lt1"/>
                </a:solidFill>
                <a:uFillTx/>
                <a:latin typeface="Calibri"/>
                <a:ea typeface="Calibri"/>
              </a:rPr>
              <a:t>Overfitting o sobreajuste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Sobreajuste de un modelo a los datos de entrenamiento. Como consecuencia el modelo no va a generalizar bien. No se va a comportar como debería cuando le entren nuevos datos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Google Shape;336;p16"/>
          <p:cNvSpPr/>
          <p:nvPr/>
        </p:nvSpPr>
        <p:spPr>
          <a:xfrm>
            <a:off x="6160680" y="4784760"/>
            <a:ext cx="397476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¿Solución?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Utilizar más datos en training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Reducir la complejidad de los modelos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Cross Validation!!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2006640" y="1890720"/>
            <a:ext cx="8178480" cy="3076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La complejidad del modelo me perjudica en test. </a:t>
            </a:r>
            <a:r>
              <a:rPr b="0" lang="es-ES" sz="4400" spc="-1" strike="noStrike">
                <a:solidFill>
                  <a:srgbClr val="729fcf"/>
                </a:solidFill>
                <a:latin typeface="Calibri"/>
                <a:ea typeface="Calibri"/>
              </a:rPr>
              <a:t>Habrá que probar modelos más simples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Underfitting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Google Shape;347;p18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76" name="Google Shape;348;p18"/>
          <p:cNvSpPr/>
          <p:nvPr/>
        </p:nvSpPr>
        <p:spPr>
          <a:xfrm>
            <a:off x="716760" y="1922040"/>
            <a:ext cx="48402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Se produce cuando entrenamos con pocos datos un modelo, y este no es capaz de identificar los patrones que hay en los datos para sus predicciones. Por tanto este modelo </a:t>
            </a:r>
            <a:r>
              <a:rPr b="1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NO puede generalizar bien</a:t>
            </a: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, para cuando le lleguen datos nuevos.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7" name="Google Shape;349;p18" descr=""/>
          <p:cNvPicPr/>
          <p:nvPr/>
        </p:nvPicPr>
        <p:blipFill>
          <a:blip r:embed="rId1"/>
          <a:stretch/>
        </p:blipFill>
        <p:spPr>
          <a:xfrm>
            <a:off x="7137720" y="540360"/>
            <a:ext cx="3630600" cy="5446080"/>
          </a:xfrm>
          <a:prstGeom prst="rect">
            <a:avLst/>
          </a:prstGeom>
          <a:ln w="0">
            <a:noFill/>
          </a:ln>
        </p:spPr>
      </p:pic>
      <p:pic>
        <p:nvPicPr>
          <p:cNvPr id="278" name="Google Shape;350;p18" descr="Model Fit: Underfitting vs. Overfitting - Amazon Machine Learning"/>
          <p:cNvPicPr/>
          <p:nvPr/>
        </p:nvPicPr>
        <p:blipFill>
          <a:blip r:embed="rId2"/>
          <a:stretch/>
        </p:blipFill>
        <p:spPr>
          <a:xfrm>
            <a:off x="587880" y="4340520"/>
            <a:ext cx="5806800" cy="1753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2006640" y="1890720"/>
            <a:ext cx="8178480" cy="3076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¡Qué lio!…</a:t>
            </a:r>
            <a:r>
              <a:rPr b="0" lang="es-ES" sz="4400" spc="-1" strike="noStrike">
                <a:solidFill>
                  <a:srgbClr val="729fcf"/>
                </a:solidFill>
                <a:latin typeface="Calibri"/>
                <a:ea typeface="Calibri"/>
              </a:rPr>
              <a:t>¿Hago modelos simples? ¿Hago modelos complejos?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Bias vs Variance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Hay que encontrar el equilibrio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Google Shape;362;p20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pic>
        <p:nvPicPr>
          <p:cNvPr id="283" name="Google Shape;363;p20" descr="Azure Machine Learning] La dicotomía Varianza-sesgo (Bias-Variance ..."/>
          <p:cNvPicPr/>
          <p:nvPr/>
        </p:nvPicPr>
        <p:blipFill>
          <a:blip r:embed="rId1"/>
          <a:stretch/>
        </p:blipFill>
        <p:spPr>
          <a:xfrm>
            <a:off x="5794920" y="2148480"/>
            <a:ext cx="5437080" cy="3665880"/>
          </a:xfrm>
          <a:prstGeom prst="rect">
            <a:avLst/>
          </a:prstGeom>
          <a:ln w="0">
            <a:noFill/>
          </a:ln>
        </p:spPr>
      </p:pic>
      <p:sp>
        <p:nvSpPr>
          <p:cNvPr id="284" name="Google Shape;364;p20"/>
          <p:cNvSpPr/>
          <p:nvPr/>
        </p:nvSpPr>
        <p:spPr>
          <a:xfrm>
            <a:off x="716760" y="2198520"/>
            <a:ext cx="4263120" cy="33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chemeClr val="lt1"/>
                </a:solidFill>
                <a:latin typeface="Calibri"/>
                <a:ea typeface="Calibri"/>
              </a:rPr>
              <a:t>Bias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Capacidad de un modelo de ajustarse a los datos de entrenamiento. Si se ajusta de más, tendremos Overfitting, y por tanto un Variance alto.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chemeClr val="lt1"/>
                </a:solidFill>
                <a:latin typeface="Calibri"/>
                <a:ea typeface="Calibri"/>
              </a:rPr>
              <a:t>Variance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Capacidad de un modelo para mantener sus regiones de decisión ante pequeñas variaciones de los datos.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chemeClr val="lt1"/>
                </a:solidFill>
                <a:latin typeface="Calibri"/>
                <a:ea typeface="Calibri"/>
              </a:rPr>
              <a:t>¿Objetivo?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Reducir el bias y el variance al maximo. Con esto conseguimos tener un modelo que se ajuste al patrón de los datos y al mismo tiempo generalizar con datos futuros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Google Shape;365;p20"/>
          <p:cNvSpPr/>
          <p:nvPr/>
        </p:nvSpPr>
        <p:spPr>
          <a:xfrm>
            <a:off x="6436800" y="1690200"/>
            <a:ext cx="1357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Underfitting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Google Shape;366;p20"/>
          <p:cNvSpPr/>
          <p:nvPr/>
        </p:nvSpPr>
        <p:spPr>
          <a:xfrm>
            <a:off x="8620920" y="1690200"/>
            <a:ext cx="1357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Overfitting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Google Shape;367;p20"/>
          <p:cNvSpPr/>
          <p:nvPr/>
        </p:nvSpPr>
        <p:spPr>
          <a:xfrm>
            <a:off x="869040" y="6123600"/>
            <a:ext cx="373392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 u="sng">
                <a:solidFill>
                  <a:schemeClr val="hlink"/>
                </a:solidFill>
                <a:uFillTx/>
                <a:latin typeface="Calibri"/>
                <a:ea typeface="Calibri"/>
                <a:hlinkClick r:id="rId2"/>
              </a:rPr>
              <a:t>Demo interesante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1284480" y="1890720"/>
            <a:ext cx="9622800" cy="3076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¿Hay alguna técnica para solventar esto?</a:t>
            </a:r>
            <a:br>
              <a:rPr sz="4400"/>
            </a:br>
            <a:r>
              <a:rPr b="0" lang="es-ES" sz="4400" spc="-1" strike="noStrike">
                <a:solidFill>
                  <a:srgbClr val="729fcf"/>
                </a:solidFill>
                <a:latin typeface="Calibri"/>
                <a:ea typeface="Calibri"/>
              </a:rPr>
              <a:t>Regularization</a:t>
            </a:r>
            <a:br>
              <a:rPr sz="4400"/>
            </a:br>
            <a:r>
              <a:rPr b="0" lang="es-ES" sz="4400" spc="-1" strike="noStrike">
                <a:solidFill>
                  <a:srgbClr val="729fcf"/>
                </a:solidFill>
                <a:latin typeface="Calibri"/>
                <a:ea typeface="Calibri"/>
              </a:rPr>
              <a:t>Cross Validation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Regularization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Simplificación del modelo para que generalice bien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Google Shape;379;p22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92" name="Google Shape;382;p22"/>
          <p:cNvSpPr/>
          <p:nvPr/>
        </p:nvSpPr>
        <p:spPr>
          <a:xfrm>
            <a:off x="497520" y="2145960"/>
            <a:ext cx="541764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chemeClr val="lt1"/>
                </a:solidFill>
                <a:latin typeface="Calibri"/>
                <a:ea typeface="Calibri"/>
              </a:rPr>
              <a:t>¿Qué conseguimos con esto?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Aumentamos los errores en train a cambio de disminuirlos en test. Reducimos ese gap entre errores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3" name="Google Shape;363;p20" descr="Azure Machine Learning] La dicotomía Varianza-sesgo (Bias-Variance ..."/>
          <p:cNvPicPr/>
          <p:nvPr/>
        </p:nvPicPr>
        <p:blipFill>
          <a:blip r:embed="rId1"/>
          <a:stretch/>
        </p:blipFill>
        <p:spPr>
          <a:xfrm>
            <a:off x="542880" y="3426480"/>
            <a:ext cx="4683240" cy="2667960"/>
          </a:xfrm>
          <a:prstGeom prst="rect">
            <a:avLst/>
          </a:prstGeom>
          <a:ln w="0">
            <a:noFill/>
          </a:ln>
        </p:spPr>
      </p:pic>
      <p:cxnSp>
        <p:nvCxnSpPr>
          <p:cNvPr id="294" name="Conector recto de flecha 4"/>
          <p:cNvCxnSpPr/>
          <p:nvPr/>
        </p:nvCxnSpPr>
        <p:spPr>
          <a:xfrm>
            <a:off x="3683880" y="4285440"/>
            <a:ext cx="360" cy="1284120"/>
          </a:xfrm>
          <a:prstGeom prst="straightConnector1">
            <a:avLst/>
          </a:prstGeom>
          <a:ln w="25400">
            <a:solidFill>
              <a:srgbClr val="ff0000"/>
            </a:solidFill>
            <a:round/>
            <a:headEnd len="med" type="triangle" w="med"/>
            <a:tailEnd len="med" type="triangle" w="med"/>
          </a:ln>
        </p:spPr>
      </p:cxnSp>
      <p:cxnSp>
        <p:nvCxnSpPr>
          <p:cNvPr id="295" name="Conector recto de flecha 18"/>
          <p:cNvCxnSpPr/>
          <p:nvPr/>
        </p:nvCxnSpPr>
        <p:spPr>
          <a:xfrm>
            <a:off x="2672640" y="5310720"/>
            <a:ext cx="360" cy="231120"/>
          </a:xfrm>
          <a:prstGeom prst="straightConnector1">
            <a:avLst/>
          </a:prstGeom>
          <a:ln w="25400">
            <a:solidFill>
              <a:srgbClr val="ff0000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296" name="Flecha: hacia abajo 11"/>
          <p:cNvSpPr/>
          <p:nvPr/>
        </p:nvSpPr>
        <p:spPr>
          <a:xfrm rot="5400000">
            <a:off x="2977560" y="5226840"/>
            <a:ext cx="504720" cy="111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E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297" name="Picture 2" descr="The structure of the decision tree generated in order to learn the... |  Download Scientific Diagram"/>
          <p:cNvPicPr/>
          <p:nvPr/>
        </p:nvPicPr>
        <p:blipFill>
          <a:blip r:embed="rId2"/>
          <a:stretch/>
        </p:blipFill>
        <p:spPr>
          <a:xfrm>
            <a:off x="6887160" y="1209600"/>
            <a:ext cx="3976920" cy="2540520"/>
          </a:xfrm>
          <a:prstGeom prst="rect">
            <a:avLst/>
          </a:prstGeom>
          <a:ln w="0">
            <a:noFill/>
          </a:ln>
        </p:spPr>
      </p:pic>
      <p:cxnSp>
        <p:nvCxnSpPr>
          <p:cNvPr id="298" name="Conector recto 17"/>
          <p:cNvCxnSpPr>
            <a:stCxn id="297" idx="1"/>
            <a:endCxn id="297" idx="3"/>
          </p:cNvCxnSpPr>
          <p:nvPr/>
        </p:nvCxnSpPr>
        <p:spPr>
          <a:xfrm>
            <a:off x="6887160" y="2479680"/>
            <a:ext cx="3977280" cy="360"/>
          </a:xfrm>
          <a:prstGeom prst="straightConnector1">
            <a:avLst/>
          </a:prstGeom>
          <a:ln w="47625">
            <a:solidFill>
              <a:srgbClr val="3f6ec2"/>
            </a:solidFill>
            <a:round/>
          </a:ln>
        </p:spPr>
      </p:cxnSp>
      <p:cxnSp>
        <p:nvCxnSpPr>
          <p:cNvPr id="299" name="Conector recto de flecha 20"/>
          <p:cNvCxnSpPr/>
          <p:nvPr/>
        </p:nvCxnSpPr>
        <p:spPr>
          <a:xfrm>
            <a:off x="9245520" y="2479680"/>
            <a:ext cx="360" cy="559440"/>
          </a:xfrm>
          <a:prstGeom prst="straightConnector1">
            <a:avLst/>
          </a:prstGeom>
          <a:ln w="28575">
            <a:solidFill>
              <a:srgbClr val="3f6ec2"/>
            </a:solidFill>
            <a:round/>
            <a:tailEnd len="med" type="triangle" w="med"/>
          </a:ln>
        </p:spPr>
      </p:cxnSp>
      <p:sp>
        <p:nvSpPr>
          <p:cNvPr id="300" name="Google Shape;382;p22"/>
          <p:cNvSpPr/>
          <p:nvPr/>
        </p:nvSpPr>
        <p:spPr>
          <a:xfrm>
            <a:off x="8268480" y="2989080"/>
            <a:ext cx="195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rgbClr val="3f6ec3"/>
                </a:solidFill>
                <a:latin typeface="Calibri"/>
                <a:ea typeface="Calibri"/>
              </a:rPr>
              <a:t>Eliminamos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1" name="Google Shape;246;p10" descr=""/>
          <p:cNvPicPr/>
          <p:nvPr/>
        </p:nvPicPr>
        <p:blipFill>
          <a:blip r:embed="rId3"/>
          <a:stretch/>
        </p:blipFill>
        <p:spPr>
          <a:xfrm>
            <a:off x="6928560" y="4285800"/>
            <a:ext cx="1984320" cy="1509120"/>
          </a:xfrm>
          <a:prstGeom prst="rect">
            <a:avLst/>
          </a:prstGeom>
          <a:ln w="0">
            <a:noFill/>
          </a:ln>
        </p:spPr>
      </p:pic>
      <p:pic>
        <p:nvPicPr>
          <p:cNvPr id="302" name="Google Shape;247;p10" descr=""/>
          <p:cNvPicPr/>
          <p:nvPr/>
        </p:nvPicPr>
        <p:blipFill>
          <a:blip r:embed="rId4"/>
          <a:stretch/>
        </p:blipFill>
        <p:spPr>
          <a:xfrm>
            <a:off x="9023760" y="4274280"/>
            <a:ext cx="1840320" cy="1509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Cross Validation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Utilizamos los datos de train en test y viceversa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Google Shape;379;p22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06" name="Google Shape;380;p22"/>
          <p:cNvSpPr/>
          <p:nvPr/>
        </p:nvSpPr>
        <p:spPr>
          <a:xfrm>
            <a:off x="587880" y="1815120"/>
            <a:ext cx="5417640" cy="24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Ejemplo para K=5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Mezclar datos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Divide tus datos en 5 conjuntos (A, B, C, D, E)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Guarda 1/5  de los datos para test. Entrena con B, C, D, E y utiliza A para test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Te da un error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Ahora guárdate B para test y utiliza A, C, D, E de entrenamiento.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Da otro error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Cuando acabes de hacer eso con todos los </a:t>
            </a:r>
            <a:r>
              <a:rPr b="0" i="1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folds</a:t>
            </a: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, calcula la media de todos los erros obtenidos y será el error cometido por el modelo.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7" name="Google Shape;381;p22" descr="ProClassify User's Guide - Cross-Validation Explained"/>
          <p:cNvPicPr/>
          <p:nvPr/>
        </p:nvPicPr>
        <p:blipFill>
          <a:blip r:embed="rId1"/>
          <a:stretch/>
        </p:blipFill>
        <p:spPr>
          <a:xfrm>
            <a:off x="6482880" y="3031560"/>
            <a:ext cx="4899600" cy="3316680"/>
          </a:xfrm>
          <a:prstGeom prst="rect">
            <a:avLst/>
          </a:prstGeom>
          <a:ln w="0">
            <a:noFill/>
          </a:ln>
        </p:spPr>
      </p:pic>
      <p:sp>
        <p:nvSpPr>
          <p:cNvPr id="308" name="Google Shape;382;p22"/>
          <p:cNvSpPr/>
          <p:nvPr/>
        </p:nvSpPr>
        <p:spPr>
          <a:xfrm>
            <a:off x="542880" y="4334400"/>
            <a:ext cx="5417640" cy="249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chemeClr val="lt1"/>
                </a:solidFill>
                <a:latin typeface="Calibri"/>
                <a:ea typeface="Calibri"/>
              </a:rPr>
              <a:t>¿Qué conseguimos con esto?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Garantizar que la evaluación del modelo sea independiente de la partición.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Al utilizar todos los datos de train, en test, y los datos de test a su vez en train también, conseguiré que mi modelo generalice bien, y por tanto no me produzca overfitting.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chemeClr val="lt1"/>
                </a:solidFill>
                <a:latin typeface="Calibri"/>
                <a:ea typeface="Calibri"/>
              </a:rPr>
              <a:t>¿En cuántos k-folds hay que dividirlo?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Se suelen usar 10, aunque depende del volumen del dataset. Si es muy grande, dividir en 5 k-folds.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Rectángulo 1"/>
          <p:cNvSpPr/>
          <p:nvPr/>
        </p:nvSpPr>
        <p:spPr>
          <a:xfrm>
            <a:off x="6482880" y="1971360"/>
            <a:ext cx="3787560" cy="29232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Producto sin anomalía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Rectángulo 9"/>
          <p:cNvSpPr/>
          <p:nvPr/>
        </p:nvSpPr>
        <p:spPr>
          <a:xfrm>
            <a:off x="10366560" y="1971360"/>
            <a:ext cx="753480" cy="292320"/>
          </a:xfrm>
          <a:prstGeom prst="rect">
            <a:avLst/>
          </a:prstGeom>
          <a:solidFill>
            <a:srgbClr val="ed7d31"/>
          </a:solidFill>
          <a:ln>
            <a:solidFill>
              <a:srgbClr val="af5c24"/>
            </a:solidFill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050" spc="-1" strike="noStrike">
                <a:solidFill>
                  <a:schemeClr val="lt1"/>
                </a:solidFill>
                <a:latin typeface="Arial"/>
                <a:ea typeface="Arial"/>
              </a:rPr>
              <a:t>Anomalía 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Abrir llave 2"/>
          <p:cNvSpPr/>
          <p:nvPr/>
        </p:nvSpPr>
        <p:spPr>
          <a:xfrm rot="5400000">
            <a:off x="7902000" y="57960"/>
            <a:ext cx="404280" cy="324288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solidFill>
              <a:srgbClr val="92d05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12" name="Abrir llave 13"/>
          <p:cNvSpPr/>
          <p:nvPr/>
        </p:nvSpPr>
        <p:spPr>
          <a:xfrm rot="5400000">
            <a:off x="10280160" y="1004040"/>
            <a:ext cx="404280" cy="133164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solidFill>
              <a:srgbClr val="92d05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13" name="Google Shape;382;p22"/>
          <p:cNvSpPr/>
          <p:nvPr/>
        </p:nvSpPr>
        <p:spPr>
          <a:xfrm>
            <a:off x="7622640" y="1145160"/>
            <a:ext cx="9630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Train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Google Shape;382;p22"/>
          <p:cNvSpPr/>
          <p:nvPr/>
        </p:nvSpPr>
        <p:spPr>
          <a:xfrm>
            <a:off x="9990720" y="1109880"/>
            <a:ext cx="9630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Test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9" dur="indefinite" restart="never" nodeType="tmRoot">
          <p:childTnLst>
            <p:seq>
              <p:cTn id="310" dur="indefinite" nodeType="mainSeq">
                <p:childTnLst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2210760" y="1890720"/>
            <a:ext cx="7048440" cy="3076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Entonces con Cross Validation ya no necesito dividir en train test…</a:t>
            </a:r>
            <a:r>
              <a:rPr b="0" lang="es-ES" sz="4400" spc="-1" strike="noStrike">
                <a:solidFill>
                  <a:srgbClr val="729fcf"/>
                </a:solidFill>
                <a:latin typeface="Calibri"/>
                <a:ea typeface="Calibri"/>
              </a:rPr>
              <a:t>No exactamente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75470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Train – Test - Validation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División del dataset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Google Shape;394;p24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19" name="Google Shape;395;p24"/>
          <p:cNvSpPr/>
          <p:nvPr/>
        </p:nvSpPr>
        <p:spPr>
          <a:xfrm>
            <a:off x="587880" y="2002680"/>
            <a:ext cx="1045440" cy="4214880"/>
          </a:xfrm>
          <a:prstGeom prst="rect">
            <a:avLst/>
          </a:prstGeom>
          <a:solidFill>
            <a:srgbClr val="8da9db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100 %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de los datos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Google Shape;396;p24"/>
          <p:cNvSpPr/>
          <p:nvPr/>
        </p:nvSpPr>
        <p:spPr>
          <a:xfrm>
            <a:off x="2505600" y="1998000"/>
            <a:ext cx="1045440" cy="843120"/>
          </a:xfrm>
          <a:prstGeom prst="rect">
            <a:avLst/>
          </a:prstGeom>
          <a:solidFill>
            <a:srgbClr val="d8e2f3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chemeClr val="dk1"/>
                </a:solidFill>
                <a:latin typeface="Calibri"/>
                <a:ea typeface="Calibri"/>
              </a:rPr>
              <a:t>~ 20 %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chemeClr val="dk1"/>
                </a:solidFill>
                <a:latin typeface="Calibri"/>
                <a:ea typeface="Calibri"/>
              </a:rPr>
              <a:t>Test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Google Shape;397;p24"/>
          <p:cNvSpPr/>
          <p:nvPr/>
        </p:nvSpPr>
        <p:spPr>
          <a:xfrm>
            <a:off x="2505600" y="3008880"/>
            <a:ext cx="1045440" cy="3208680"/>
          </a:xfrm>
          <a:prstGeom prst="rect">
            <a:avLst/>
          </a:prstGeom>
          <a:solidFill>
            <a:srgbClr val="0070c0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~ 80 %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Train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Google Shape;398;p24"/>
          <p:cNvSpPr/>
          <p:nvPr/>
        </p:nvSpPr>
        <p:spPr>
          <a:xfrm>
            <a:off x="1884240" y="3985920"/>
            <a:ext cx="559080" cy="2480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23" name="Google Shape;399;p24"/>
          <p:cNvSpPr/>
          <p:nvPr/>
        </p:nvSpPr>
        <p:spPr>
          <a:xfrm>
            <a:off x="3896280" y="3496320"/>
            <a:ext cx="597960" cy="216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24" name="Google Shape;400;p24"/>
          <p:cNvSpPr/>
          <p:nvPr/>
        </p:nvSpPr>
        <p:spPr>
          <a:xfrm>
            <a:off x="6975000" y="3416400"/>
            <a:ext cx="1031040" cy="369000"/>
          </a:xfrm>
          <a:prstGeom prst="rect">
            <a:avLst/>
          </a:prstGeom>
          <a:noFill/>
          <a:ln w="254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Modelo entrenado 1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Google Shape;401;p24"/>
          <p:cNvSpPr/>
          <p:nvPr/>
        </p:nvSpPr>
        <p:spPr>
          <a:xfrm>
            <a:off x="8961480" y="4428720"/>
            <a:ext cx="1449000" cy="369000"/>
          </a:xfrm>
          <a:prstGeom prst="rect">
            <a:avLst/>
          </a:prstGeom>
          <a:noFill/>
          <a:ln w="254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MODELO ELEGIDO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Google Shape;402;p24"/>
          <p:cNvSpPr/>
          <p:nvPr/>
        </p:nvSpPr>
        <p:spPr>
          <a:xfrm>
            <a:off x="5215680" y="3193200"/>
            <a:ext cx="223560" cy="175320"/>
          </a:xfrm>
          <a:prstGeom prst="rect">
            <a:avLst/>
          </a:prstGeom>
          <a:solidFill>
            <a:srgbClr val="7030a0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000" spc="-1" strike="noStrike">
                <a:solidFill>
                  <a:schemeClr val="lt1"/>
                </a:solidFill>
                <a:latin typeface="Calibri"/>
                <a:ea typeface="Calibri"/>
              </a:rPr>
              <a:t>T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Google Shape;403;p24"/>
          <p:cNvSpPr/>
          <p:nvPr/>
        </p:nvSpPr>
        <p:spPr>
          <a:xfrm>
            <a:off x="4920840" y="3187440"/>
            <a:ext cx="223560" cy="175320"/>
          </a:xfrm>
          <a:prstGeom prst="rect">
            <a:avLst/>
          </a:prstGeom>
          <a:solidFill>
            <a:srgbClr val="aa72d4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800" spc="-1" strike="noStrike">
                <a:solidFill>
                  <a:schemeClr val="lt1"/>
                </a:solidFill>
                <a:latin typeface="Calibri"/>
                <a:ea typeface="Calibri"/>
              </a:rPr>
              <a:t>V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Google Shape;404;p24"/>
          <p:cNvSpPr/>
          <p:nvPr/>
        </p:nvSpPr>
        <p:spPr>
          <a:xfrm>
            <a:off x="4920840" y="3391200"/>
            <a:ext cx="223560" cy="630000"/>
          </a:xfrm>
          <a:prstGeom prst="rect">
            <a:avLst/>
          </a:prstGeom>
          <a:solidFill>
            <a:srgbClr val="7030a0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000" spc="-1" strike="noStrike">
                <a:solidFill>
                  <a:schemeClr val="lt1"/>
                </a:solidFill>
                <a:latin typeface="Calibri"/>
                <a:ea typeface="Calibri"/>
              </a:rPr>
              <a:t>T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Google Shape;405;p24"/>
          <p:cNvSpPr/>
          <p:nvPr/>
        </p:nvSpPr>
        <p:spPr>
          <a:xfrm>
            <a:off x="5215680" y="3398400"/>
            <a:ext cx="223560" cy="181080"/>
          </a:xfrm>
          <a:prstGeom prst="rect">
            <a:avLst/>
          </a:prstGeom>
          <a:solidFill>
            <a:srgbClr val="aa72d4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800" spc="-1" strike="noStrike">
                <a:solidFill>
                  <a:schemeClr val="lt1"/>
                </a:solidFill>
                <a:latin typeface="Calibri"/>
                <a:ea typeface="Calibri"/>
              </a:rPr>
              <a:t>V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Google Shape;406;p24"/>
          <p:cNvSpPr/>
          <p:nvPr/>
        </p:nvSpPr>
        <p:spPr>
          <a:xfrm>
            <a:off x="5215680" y="3607560"/>
            <a:ext cx="223560" cy="413640"/>
          </a:xfrm>
          <a:prstGeom prst="rect">
            <a:avLst/>
          </a:prstGeom>
          <a:solidFill>
            <a:srgbClr val="7030a0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000" spc="-1" strike="noStrike">
                <a:solidFill>
                  <a:schemeClr val="lt1"/>
                </a:solidFill>
                <a:latin typeface="Calibri"/>
                <a:ea typeface="Calibri"/>
              </a:rPr>
              <a:t>T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Google Shape;407;p24"/>
          <p:cNvSpPr/>
          <p:nvPr/>
        </p:nvSpPr>
        <p:spPr>
          <a:xfrm>
            <a:off x="5510880" y="3604320"/>
            <a:ext cx="223560" cy="181080"/>
          </a:xfrm>
          <a:prstGeom prst="rect">
            <a:avLst/>
          </a:prstGeom>
          <a:solidFill>
            <a:srgbClr val="aa72d4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800" spc="-1" strike="noStrike">
                <a:solidFill>
                  <a:schemeClr val="lt1"/>
                </a:solidFill>
                <a:latin typeface="Calibri"/>
                <a:ea typeface="Calibri"/>
              </a:rPr>
              <a:t>V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Google Shape;408;p24"/>
          <p:cNvSpPr/>
          <p:nvPr/>
        </p:nvSpPr>
        <p:spPr>
          <a:xfrm>
            <a:off x="5511600" y="3198600"/>
            <a:ext cx="223560" cy="381240"/>
          </a:xfrm>
          <a:prstGeom prst="rect">
            <a:avLst/>
          </a:prstGeom>
          <a:solidFill>
            <a:srgbClr val="7030a0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000" spc="-1" strike="noStrike">
                <a:solidFill>
                  <a:schemeClr val="lt1"/>
                </a:solidFill>
                <a:latin typeface="Calibri"/>
                <a:ea typeface="Calibri"/>
              </a:rPr>
              <a:t>T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Google Shape;409;p24"/>
          <p:cNvSpPr/>
          <p:nvPr/>
        </p:nvSpPr>
        <p:spPr>
          <a:xfrm>
            <a:off x="5510880" y="3805920"/>
            <a:ext cx="223560" cy="215280"/>
          </a:xfrm>
          <a:prstGeom prst="rect">
            <a:avLst/>
          </a:prstGeom>
          <a:solidFill>
            <a:srgbClr val="7030a0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000" spc="-1" strike="noStrike">
                <a:solidFill>
                  <a:schemeClr val="lt1"/>
                </a:solidFill>
                <a:latin typeface="Calibri"/>
                <a:ea typeface="Calibri"/>
              </a:rPr>
              <a:t>T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Google Shape;410;p24"/>
          <p:cNvSpPr/>
          <p:nvPr/>
        </p:nvSpPr>
        <p:spPr>
          <a:xfrm>
            <a:off x="5805720" y="3198600"/>
            <a:ext cx="223560" cy="607320"/>
          </a:xfrm>
          <a:prstGeom prst="rect">
            <a:avLst/>
          </a:prstGeom>
          <a:solidFill>
            <a:srgbClr val="7030a0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000" spc="-1" strike="noStrike">
                <a:solidFill>
                  <a:schemeClr val="lt1"/>
                </a:solidFill>
                <a:latin typeface="Calibri"/>
                <a:ea typeface="Calibri"/>
              </a:rPr>
              <a:t>T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Google Shape;411;p24"/>
          <p:cNvSpPr/>
          <p:nvPr/>
        </p:nvSpPr>
        <p:spPr>
          <a:xfrm>
            <a:off x="5805720" y="3833640"/>
            <a:ext cx="223560" cy="181080"/>
          </a:xfrm>
          <a:prstGeom prst="rect">
            <a:avLst/>
          </a:prstGeom>
          <a:solidFill>
            <a:srgbClr val="aa72d4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800" spc="-1" strike="noStrike">
                <a:solidFill>
                  <a:schemeClr val="lt1"/>
                </a:solidFill>
                <a:latin typeface="Calibri"/>
                <a:ea typeface="Calibri"/>
              </a:rPr>
              <a:t>V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Google Shape;412;p24"/>
          <p:cNvSpPr/>
          <p:nvPr/>
        </p:nvSpPr>
        <p:spPr>
          <a:xfrm>
            <a:off x="5215680" y="4175280"/>
            <a:ext cx="223560" cy="175320"/>
          </a:xfrm>
          <a:prstGeom prst="rect">
            <a:avLst/>
          </a:prstGeom>
          <a:solidFill>
            <a:srgbClr val="7030a0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000" spc="-1" strike="noStrike">
                <a:solidFill>
                  <a:schemeClr val="lt1"/>
                </a:solidFill>
                <a:latin typeface="Calibri"/>
                <a:ea typeface="Calibri"/>
              </a:rPr>
              <a:t>T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Google Shape;413;p24"/>
          <p:cNvSpPr/>
          <p:nvPr/>
        </p:nvSpPr>
        <p:spPr>
          <a:xfrm>
            <a:off x="4920840" y="4169520"/>
            <a:ext cx="223560" cy="175320"/>
          </a:xfrm>
          <a:prstGeom prst="rect">
            <a:avLst/>
          </a:prstGeom>
          <a:solidFill>
            <a:srgbClr val="aa72d4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800" spc="-1" strike="noStrike">
                <a:solidFill>
                  <a:schemeClr val="lt1"/>
                </a:solidFill>
                <a:latin typeface="Calibri"/>
                <a:ea typeface="Calibri"/>
              </a:rPr>
              <a:t>V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Google Shape;414;p24"/>
          <p:cNvSpPr/>
          <p:nvPr/>
        </p:nvSpPr>
        <p:spPr>
          <a:xfrm>
            <a:off x="4920840" y="4373280"/>
            <a:ext cx="223560" cy="630000"/>
          </a:xfrm>
          <a:prstGeom prst="rect">
            <a:avLst/>
          </a:prstGeom>
          <a:solidFill>
            <a:srgbClr val="7030a0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000" spc="-1" strike="noStrike">
                <a:solidFill>
                  <a:schemeClr val="lt1"/>
                </a:solidFill>
                <a:latin typeface="Calibri"/>
                <a:ea typeface="Calibri"/>
              </a:rPr>
              <a:t>T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Google Shape;415;p24"/>
          <p:cNvSpPr/>
          <p:nvPr/>
        </p:nvSpPr>
        <p:spPr>
          <a:xfrm>
            <a:off x="5215680" y="4380840"/>
            <a:ext cx="223560" cy="181080"/>
          </a:xfrm>
          <a:prstGeom prst="rect">
            <a:avLst/>
          </a:prstGeom>
          <a:solidFill>
            <a:srgbClr val="aa72d4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800" spc="-1" strike="noStrike">
                <a:solidFill>
                  <a:schemeClr val="lt1"/>
                </a:solidFill>
                <a:latin typeface="Calibri"/>
                <a:ea typeface="Calibri"/>
              </a:rPr>
              <a:t>V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Google Shape;416;p24"/>
          <p:cNvSpPr/>
          <p:nvPr/>
        </p:nvSpPr>
        <p:spPr>
          <a:xfrm>
            <a:off x="5215680" y="4589640"/>
            <a:ext cx="223560" cy="413640"/>
          </a:xfrm>
          <a:prstGeom prst="rect">
            <a:avLst/>
          </a:prstGeom>
          <a:solidFill>
            <a:srgbClr val="7030a0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000" spc="-1" strike="noStrike">
                <a:solidFill>
                  <a:schemeClr val="lt1"/>
                </a:solidFill>
                <a:latin typeface="Calibri"/>
                <a:ea typeface="Calibri"/>
              </a:rPr>
              <a:t>T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Google Shape;417;p24"/>
          <p:cNvSpPr/>
          <p:nvPr/>
        </p:nvSpPr>
        <p:spPr>
          <a:xfrm>
            <a:off x="5510880" y="4586760"/>
            <a:ext cx="223560" cy="181080"/>
          </a:xfrm>
          <a:prstGeom prst="rect">
            <a:avLst/>
          </a:prstGeom>
          <a:solidFill>
            <a:srgbClr val="aa72d4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800" spc="-1" strike="noStrike">
                <a:solidFill>
                  <a:schemeClr val="lt1"/>
                </a:solidFill>
                <a:latin typeface="Calibri"/>
                <a:ea typeface="Calibri"/>
              </a:rPr>
              <a:t>V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Google Shape;418;p24"/>
          <p:cNvSpPr/>
          <p:nvPr/>
        </p:nvSpPr>
        <p:spPr>
          <a:xfrm>
            <a:off x="5511600" y="4180680"/>
            <a:ext cx="223560" cy="381240"/>
          </a:xfrm>
          <a:prstGeom prst="rect">
            <a:avLst/>
          </a:prstGeom>
          <a:solidFill>
            <a:srgbClr val="7030a0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000" spc="-1" strike="noStrike">
                <a:solidFill>
                  <a:schemeClr val="lt1"/>
                </a:solidFill>
                <a:latin typeface="Calibri"/>
                <a:ea typeface="Calibri"/>
              </a:rPr>
              <a:t>T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Google Shape;419;p24"/>
          <p:cNvSpPr/>
          <p:nvPr/>
        </p:nvSpPr>
        <p:spPr>
          <a:xfrm>
            <a:off x="5510880" y="4788360"/>
            <a:ext cx="223560" cy="215280"/>
          </a:xfrm>
          <a:prstGeom prst="rect">
            <a:avLst/>
          </a:prstGeom>
          <a:solidFill>
            <a:srgbClr val="7030a0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000" spc="-1" strike="noStrike">
                <a:solidFill>
                  <a:schemeClr val="lt1"/>
                </a:solidFill>
                <a:latin typeface="Calibri"/>
                <a:ea typeface="Calibri"/>
              </a:rPr>
              <a:t>T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Google Shape;420;p24"/>
          <p:cNvSpPr/>
          <p:nvPr/>
        </p:nvSpPr>
        <p:spPr>
          <a:xfrm>
            <a:off x="5805720" y="4180680"/>
            <a:ext cx="223560" cy="607320"/>
          </a:xfrm>
          <a:prstGeom prst="rect">
            <a:avLst/>
          </a:prstGeom>
          <a:solidFill>
            <a:srgbClr val="7030a0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000" spc="-1" strike="noStrike">
                <a:solidFill>
                  <a:schemeClr val="lt1"/>
                </a:solidFill>
                <a:latin typeface="Calibri"/>
                <a:ea typeface="Calibri"/>
              </a:rPr>
              <a:t>T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Google Shape;421;p24"/>
          <p:cNvSpPr/>
          <p:nvPr/>
        </p:nvSpPr>
        <p:spPr>
          <a:xfrm>
            <a:off x="5805720" y="4815720"/>
            <a:ext cx="223560" cy="181080"/>
          </a:xfrm>
          <a:prstGeom prst="rect">
            <a:avLst/>
          </a:prstGeom>
          <a:solidFill>
            <a:srgbClr val="aa72d4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800" spc="-1" strike="noStrike">
                <a:solidFill>
                  <a:schemeClr val="lt1"/>
                </a:solidFill>
                <a:latin typeface="Calibri"/>
                <a:ea typeface="Calibri"/>
              </a:rPr>
              <a:t>V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Google Shape;422;p24"/>
          <p:cNvSpPr/>
          <p:nvPr/>
        </p:nvSpPr>
        <p:spPr>
          <a:xfrm>
            <a:off x="5215680" y="5157360"/>
            <a:ext cx="223560" cy="175320"/>
          </a:xfrm>
          <a:prstGeom prst="rect">
            <a:avLst/>
          </a:prstGeom>
          <a:solidFill>
            <a:srgbClr val="7030a0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000" spc="-1" strike="noStrike">
                <a:solidFill>
                  <a:schemeClr val="lt1"/>
                </a:solidFill>
                <a:latin typeface="Calibri"/>
                <a:ea typeface="Calibri"/>
              </a:rPr>
              <a:t>T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Google Shape;423;p24"/>
          <p:cNvSpPr/>
          <p:nvPr/>
        </p:nvSpPr>
        <p:spPr>
          <a:xfrm>
            <a:off x="4920840" y="5151600"/>
            <a:ext cx="223560" cy="175320"/>
          </a:xfrm>
          <a:prstGeom prst="rect">
            <a:avLst/>
          </a:prstGeom>
          <a:solidFill>
            <a:srgbClr val="aa72d4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800" spc="-1" strike="noStrike">
                <a:solidFill>
                  <a:schemeClr val="lt1"/>
                </a:solidFill>
                <a:latin typeface="Calibri"/>
                <a:ea typeface="Calibri"/>
              </a:rPr>
              <a:t>V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Google Shape;424;p24"/>
          <p:cNvSpPr/>
          <p:nvPr/>
        </p:nvSpPr>
        <p:spPr>
          <a:xfrm>
            <a:off x="4920840" y="5355360"/>
            <a:ext cx="223560" cy="630000"/>
          </a:xfrm>
          <a:prstGeom prst="rect">
            <a:avLst/>
          </a:prstGeom>
          <a:solidFill>
            <a:srgbClr val="7030a0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000" spc="-1" strike="noStrike">
                <a:solidFill>
                  <a:schemeClr val="lt1"/>
                </a:solidFill>
                <a:latin typeface="Calibri"/>
                <a:ea typeface="Calibri"/>
              </a:rPr>
              <a:t>T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Google Shape;425;p24"/>
          <p:cNvSpPr/>
          <p:nvPr/>
        </p:nvSpPr>
        <p:spPr>
          <a:xfrm>
            <a:off x="5215680" y="5362920"/>
            <a:ext cx="223560" cy="181080"/>
          </a:xfrm>
          <a:prstGeom prst="rect">
            <a:avLst/>
          </a:prstGeom>
          <a:solidFill>
            <a:srgbClr val="aa72d4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800" spc="-1" strike="noStrike">
                <a:solidFill>
                  <a:schemeClr val="lt1"/>
                </a:solidFill>
                <a:latin typeface="Calibri"/>
                <a:ea typeface="Calibri"/>
              </a:rPr>
              <a:t>V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Google Shape;426;p24"/>
          <p:cNvSpPr/>
          <p:nvPr/>
        </p:nvSpPr>
        <p:spPr>
          <a:xfrm>
            <a:off x="5215680" y="5572080"/>
            <a:ext cx="223560" cy="413640"/>
          </a:xfrm>
          <a:prstGeom prst="rect">
            <a:avLst/>
          </a:prstGeom>
          <a:solidFill>
            <a:srgbClr val="7030a0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000" spc="-1" strike="noStrike">
                <a:solidFill>
                  <a:schemeClr val="lt1"/>
                </a:solidFill>
                <a:latin typeface="Calibri"/>
                <a:ea typeface="Calibri"/>
              </a:rPr>
              <a:t>T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Google Shape;427;p24"/>
          <p:cNvSpPr/>
          <p:nvPr/>
        </p:nvSpPr>
        <p:spPr>
          <a:xfrm>
            <a:off x="5510880" y="5568840"/>
            <a:ext cx="223560" cy="181080"/>
          </a:xfrm>
          <a:prstGeom prst="rect">
            <a:avLst/>
          </a:prstGeom>
          <a:solidFill>
            <a:srgbClr val="aa72d4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800" spc="-1" strike="noStrike">
                <a:solidFill>
                  <a:schemeClr val="lt1"/>
                </a:solidFill>
                <a:latin typeface="Calibri"/>
                <a:ea typeface="Calibri"/>
              </a:rPr>
              <a:t>V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Google Shape;428;p24"/>
          <p:cNvSpPr/>
          <p:nvPr/>
        </p:nvSpPr>
        <p:spPr>
          <a:xfrm>
            <a:off x="5511600" y="5162760"/>
            <a:ext cx="223560" cy="381240"/>
          </a:xfrm>
          <a:prstGeom prst="rect">
            <a:avLst/>
          </a:prstGeom>
          <a:solidFill>
            <a:srgbClr val="7030a0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000" spc="-1" strike="noStrike">
                <a:solidFill>
                  <a:schemeClr val="lt1"/>
                </a:solidFill>
                <a:latin typeface="Calibri"/>
                <a:ea typeface="Calibri"/>
              </a:rPr>
              <a:t>T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Google Shape;429;p24"/>
          <p:cNvSpPr/>
          <p:nvPr/>
        </p:nvSpPr>
        <p:spPr>
          <a:xfrm>
            <a:off x="5510880" y="5770440"/>
            <a:ext cx="223560" cy="215280"/>
          </a:xfrm>
          <a:prstGeom prst="rect">
            <a:avLst/>
          </a:prstGeom>
          <a:solidFill>
            <a:srgbClr val="7030a0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000" spc="-1" strike="noStrike">
                <a:solidFill>
                  <a:schemeClr val="lt1"/>
                </a:solidFill>
                <a:latin typeface="Calibri"/>
                <a:ea typeface="Calibri"/>
              </a:rPr>
              <a:t>T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Google Shape;430;p24"/>
          <p:cNvSpPr/>
          <p:nvPr/>
        </p:nvSpPr>
        <p:spPr>
          <a:xfrm>
            <a:off x="5805720" y="5162760"/>
            <a:ext cx="223560" cy="607320"/>
          </a:xfrm>
          <a:prstGeom prst="rect">
            <a:avLst/>
          </a:prstGeom>
          <a:solidFill>
            <a:srgbClr val="7030a0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000" spc="-1" strike="noStrike">
                <a:solidFill>
                  <a:schemeClr val="lt1"/>
                </a:solidFill>
                <a:latin typeface="Calibri"/>
                <a:ea typeface="Calibri"/>
              </a:rPr>
              <a:t>T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Google Shape;431;p24"/>
          <p:cNvSpPr/>
          <p:nvPr/>
        </p:nvSpPr>
        <p:spPr>
          <a:xfrm>
            <a:off x="5805720" y="5797800"/>
            <a:ext cx="223560" cy="181080"/>
          </a:xfrm>
          <a:prstGeom prst="rect">
            <a:avLst/>
          </a:prstGeom>
          <a:solidFill>
            <a:srgbClr val="aa72d4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800" spc="-1" strike="noStrike">
                <a:solidFill>
                  <a:schemeClr val="lt1"/>
                </a:solidFill>
                <a:latin typeface="Calibri"/>
                <a:ea typeface="Calibri"/>
              </a:rPr>
              <a:t>V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Google Shape;432;p24"/>
          <p:cNvSpPr/>
          <p:nvPr/>
        </p:nvSpPr>
        <p:spPr>
          <a:xfrm>
            <a:off x="3896280" y="4569840"/>
            <a:ext cx="597960" cy="216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57" name="Google Shape;433;p24"/>
          <p:cNvSpPr/>
          <p:nvPr/>
        </p:nvSpPr>
        <p:spPr>
          <a:xfrm>
            <a:off x="3887280" y="5494320"/>
            <a:ext cx="597960" cy="216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58" name="Google Shape;434;p24"/>
          <p:cNvSpPr/>
          <p:nvPr/>
        </p:nvSpPr>
        <p:spPr>
          <a:xfrm>
            <a:off x="6975000" y="4417560"/>
            <a:ext cx="1031040" cy="369000"/>
          </a:xfrm>
          <a:prstGeom prst="rect">
            <a:avLst/>
          </a:prstGeom>
          <a:noFill/>
          <a:ln w="254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Modelo entrenado 2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Google Shape;435;p24"/>
          <p:cNvSpPr/>
          <p:nvPr/>
        </p:nvSpPr>
        <p:spPr>
          <a:xfrm>
            <a:off x="6989760" y="5316480"/>
            <a:ext cx="1031040" cy="369000"/>
          </a:xfrm>
          <a:prstGeom prst="rect">
            <a:avLst/>
          </a:prstGeom>
          <a:noFill/>
          <a:ln w="254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Modelo entrenado 3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Google Shape;436;p24"/>
          <p:cNvSpPr/>
          <p:nvPr/>
        </p:nvSpPr>
        <p:spPr>
          <a:xfrm>
            <a:off x="8264520" y="3275280"/>
            <a:ext cx="428760" cy="271044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>
            <a:solidFill>
              <a:srgbClr val="4472c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61" name="Google Shape;437;p24"/>
          <p:cNvSpPr/>
          <p:nvPr/>
        </p:nvSpPr>
        <p:spPr>
          <a:xfrm>
            <a:off x="6303600" y="3506040"/>
            <a:ext cx="421200" cy="216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62" name="Google Shape;438;p24"/>
          <p:cNvSpPr/>
          <p:nvPr/>
        </p:nvSpPr>
        <p:spPr>
          <a:xfrm>
            <a:off x="6292080" y="4491000"/>
            <a:ext cx="421200" cy="216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63" name="Google Shape;439;p24"/>
          <p:cNvSpPr/>
          <p:nvPr/>
        </p:nvSpPr>
        <p:spPr>
          <a:xfrm>
            <a:off x="6301800" y="5394600"/>
            <a:ext cx="421200" cy="216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64" name="Google Shape;440;p24"/>
          <p:cNvSpPr/>
          <p:nvPr/>
        </p:nvSpPr>
        <p:spPr>
          <a:xfrm>
            <a:off x="4586760" y="2784960"/>
            <a:ext cx="177192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100" spc="-1" strike="noStrike">
                <a:solidFill>
                  <a:schemeClr val="lt1"/>
                </a:solidFill>
                <a:latin typeface="Calibri"/>
                <a:ea typeface="Calibri"/>
              </a:rPr>
              <a:t>Cross Validation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100" spc="-1" strike="noStrike">
                <a:solidFill>
                  <a:schemeClr val="lt1"/>
                </a:solidFill>
                <a:latin typeface="Calibri"/>
                <a:ea typeface="Calibri"/>
              </a:rPr>
              <a:t>Divido en Train-Validation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Google Shape;441;p24"/>
          <p:cNvSpPr/>
          <p:nvPr/>
        </p:nvSpPr>
        <p:spPr>
          <a:xfrm>
            <a:off x="3896280" y="2288160"/>
            <a:ext cx="4927680" cy="2325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66" name="Google Shape;442;p24"/>
          <p:cNvSpPr/>
          <p:nvPr/>
        </p:nvSpPr>
        <p:spPr>
          <a:xfrm>
            <a:off x="8936640" y="3168720"/>
            <a:ext cx="1449000" cy="745920"/>
          </a:xfrm>
          <a:prstGeom prst="rect">
            <a:avLst/>
          </a:prstGeom>
          <a:solidFill>
            <a:srgbClr val="0070c0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~ 80 %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Train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Google Shape;443;p24"/>
          <p:cNvSpPr/>
          <p:nvPr/>
        </p:nvSpPr>
        <p:spPr>
          <a:xfrm>
            <a:off x="8936640" y="2096640"/>
            <a:ext cx="1449000" cy="615600"/>
          </a:xfrm>
          <a:prstGeom prst="rect">
            <a:avLst/>
          </a:prstGeom>
          <a:noFill/>
          <a:ln w="254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MODELO ELEGIDO ENTRENADO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Google Shape;444;p24"/>
          <p:cNvSpPr/>
          <p:nvPr/>
        </p:nvSpPr>
        <p:spPr>
          <a:xfrm>
            <a:off x="10498680" y="2204280"/>
            <a:ext cx="144900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100" spc="-1" strike="noStrike">
                <a:solidFill>
                  <a:schemeClr val="lt1"/>
                </a:solidFill>
                <a:latin typeface="Calibri"/>
                <a:ea typeface="Calibri"/>
              </a:rPr>
              <a:t>¿Buen performance?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100" spc="-1" strike="noStrike">
                <a:solidFill>
                  <a:schemeClr val="lt1"/>
                </a:solidFill>
                <a:latin typeface="Calibri"/>
                <a:ea typeface="Calibri"/>
              </a:rPr>
              <a:t>¿Overfitting?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Google Shape;445;p24"/>
          <p:cNvSpPr/>
          <p:nvPr/>
        </p:nvSpPr>
        <p:spPr>
          <a:xfrm rot="16200000">
            <a:off x="9468720" y="4072680"/>
            <a:ext cx="385200" cy="216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70" name="Google Shape;446;p24"/>
          <p:cNvSpPr/>
          <p:nvPr/>
        </p:nvSpPr>
        <p:spPr>
          <a:xfrm rot="16200000">
            <a:off x="9463320" y="2833200"/>
            <a:ext cx="344520" cy="216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5" dur="indefinite" restart="never" nodeType="tmRoot">
          <p:childTnLst>
            <p:seq>
              <p:cTn id="316" dur="indefinite" nodeType="mainSeq">
                <p:childTnLst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fill="hold">
                      <p:stCondLst>
                        <p:cond delay="indefinite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Train – Test - Validation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División del dataset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Google Shape;453;p25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74" name="Google Shape;454;p25"/>
          <p:cNvSpPr/>
          <p:nvPr/>
        </p:nvSpPr>
        <p:spPr>
          <a:xfrm>
            <a:off x="587880" y="2002680"/>
            <a:ext cx="1045440" cy="4214880"/>
          </a:xfrm>
          <a:prstGeom prst="rect">
            <a:avLst/>
          </a:prstGeom>
          <a:solidFill>
            <a:srgbClr val="8da9db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100 %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de los datos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Google Shape;455;p25"/>
          <p:cNvSpPr/>
          <p:nvPr/>
        </p:nvSpPr>
        <p:spPr>
          <a:xfrm>
            <a:off x="2505600" y="1998000"/>
            <a:ext cx="1045440" cy="843120"/>
          </a:xfrm>
          <a:prstGeom prst="rect">
            <a:avLst/>
          </a:prstGeom>
          <a:solidFill>
            <a:srgbClr val="d8e2f3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chemeClr val="dk1"/>
                </a:solidFill>
                <a:latin typeface="Calibri"/>
                <a:ea typeface="Calibri"/>
              </a:rPr>
              <a:t>~ 20 %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chemeClr val="dk1"/>
                </a:solidFill>
                <a:latin typeface="Calibri"/>
                <a:ea typeface="Calibri"/>
              </a:rPr>
              <a:t>Test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Google Shape;456;p25"/>
          <p:cNvSpPr/>
          <p:nvPr/>
        </p:nvSpPr>
        <p:spPr>
          <a:xfrm>
            <a:off x="2505600" y="3008880"/>
            <a:ext cx="1045440" cy="3208680"/>
          </a:xfrm>
          <a:prstGeom prst="rect">
            <a:avLst/>
          </a:prstGeom>
          <a:solidFill>
            <a:srgbClr val="0070c0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~ 80 %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Train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Google Shape;457;p25"/>
          <p:cNvSpPr/>
          <p:nvPr/>
        </p:nvSpPr>
        <p:spPr>
          <a:xfrm>
            <a:off x="1789920" y="3985920"/>
            <a:ext cx="559080" cy="2480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78" name="Google Shape;458;p25"/>
          <p:cNvSpPr/>
          <p:nvPr/>
        </p:nvSpPr>
        <p:spPr>
          <a:xfrm>
            <a:off x="4666320" y="3008880"/>
            <a:ext cx="732240" cy="630000"/>
          </a:xfrm>
          <a:prstGeom prst="rect">
            <a:avLst/>
          </a:prstGeom>
          <a:solidFill>
            <a:srgbClr val="aa72d4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000" spc="-1" strike="noStrike">
                <a:solidFill>
                  <a:schemeClr val="lt1"/>
                </a:solidFill>
                <a:latin typeface="Calibri"/>
                <a:ea typeface="Calibri"/>
              </a:rPr>
              <a:t>Validation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Google Shape;459;p25"/>
          <p:cNvSpPr/>
          <p:nvPr/>
        </p:nvSpPr>
        <p:spPr>
          <a:xfrm>
            <a:off x="4666320" y="3786120"/>
            <a:ext cx="732240" cy="2431440"/>
          </a:xfrm>
          <a:prstGeom prst="rect">
            <a:avLst/>
          </a:prstGeom>
          <a:solidFill>
            <a:srgbClr val="7030a0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100" spc="-1" strike="noStrike">
                <a:solidFill>
                  <a:schemeClr val="lt1"/>
                </a:solidFill>
                <a:latin typeface="Calibri"/>
                <a:ea typeface="Calibri"/>
              </a:rPr>
              <a:t>Train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Google Shape;460;p25"/>
          <p:cNvSpPr/>
          <p:nvPr/>
        </p:nvSpPr>
        <p:spPr>
          <a:xfrm>
            <a:off x="3686760" y="3976920"/>
            <a:ext cx="756360" cy="2480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81" name="Google Shape;461;p25"/>
          <p:cNvSpPr/>
          <p:nvPr/>
        </p:nvSpPr>
        <p:spPr>
          <a:xfrm>
            <a:off x="5645520" y="4678200"/>
            <a:ext cx="559080" cy="2480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82" name="Google Shape;462;p25"/>
          <p:cNvSpPr/>
          <p:nvPr/>
        </p:nvSpPr>
        <p:spPr>
          <a:xfrm>
            <a:off x="6427440" y="4327560"/>
            <a:ext cx="1668600" cy="9496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Entrenamos modelos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83" name="Google Shape;463;p25"/>
          <p:cNvCxnSpPr/>
          <p:nvPr/>
        </p:nvCxnSpPr>
        <p:spPr>
          <a:xfrm>
            <a:off x="5645520" y="3323880"/>
            <a:ext cx="1554480" cy="777600"/>
          </a:xfrm>
          <a:prstGeom prst="bentConnector3">
            <a:avLst>
              <a:gd name="adj1" fmla="val 99698"/>
            </a:avLst>
          </a:prstGeom>
          <a:ln w="38100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384" name="Google Shape;464;p25"/>
          <p:cNvSpPr/>
          <p:nvPr/>
        </p:nvSpPr>
        <p:spPr>
          <a:xfrm>
            <a:off x="9401400" y="4327560"/>
            <a:ext cx="1668600" cy="9496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Mejor modelo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85" name="Google Shape;465;p25"/>
          <p:cNvCxnSpPr>
            <a:stCxn id="376" idx="2"/>
          </p:cNvCxnSpPr>
          <p:nvPr/>
        </p:nvCxnSpPr>
        <p:spPr>
          <a:xfrm flipH="1" flipV="1" rot="5400000">
            <a:off x="6234840" y="2216880"/>
            <a:ext cx="794160" cy="7207920"/>
          </a:xfrm>
          <a:prstGeom prst="bentConnector3">
            <a:avLst>
              <a:gd name="adj1" fmla="val -28752"/>
            </a:avLst>
          </a:prstGeom>
          <a:ln w="38100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386" name="Google Shape;466;p25"/>
          <p:cNvSpPr/>
          <p:nvPr/>
        </p:nvSpPr>
        <p:spPr>
          <a:xfrm>
            <a:off x="9401400" y="1995840"/>
            <a:ext cx="1668600" cy="9496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Mejor modelo entrenado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Google Shape;467;p25"/>
          <p:cNvSpPr/>
          <p:nvPr/>
        </p:nvSpPr>
        <p:spPr>
          <a:xfrm>
            <a:off x="3686760" y="2294640"/>
            <a:ext cx="5450400" cy="2480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88" name="Google Shape;468;p25"/>
          <p:cNvSpPr/>
          <p:nvPr/>
        </p:nvSpPr>
        <p:spPr>
          <a:xfrm>
            <a:off x="8240760" y="4693680"/>
            <a:ext cx="896400" cy="2480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89" name="Google Shape;469;p25"/>
          <p:cNvSpPr/>
          <p:nvPr/>
        </p:nvSpPr>
        <p:spPr>
          <a:xfrm rot="16200000">
            <a:off x="9666360" y="3515400"/>
            <a:ext cx="1138320" cy="2480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31538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90" name="Google Shape;470;p25"/>
          <p:cNvSpPr/>
          <p:nvPr/>
        </p:nvSpPr>
        <p:spPr>
          <a:xfrm>
            <a:off x="3562920" y="4344480"/>
            <a:ext cx="1045440" cy="9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100" spc="-1" strike="noStrike">
                <a:solidFill>
                  <a:schemeClr val="lt1"/>
                </a:solidFill>
                <a:latin typeface="Calibri"/>
                <a:ea typeface="Calibri"/>
              </a:rPr>
              <a:t>Necesito unos datos de validación para poder elegir el modelo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Google Shape;471;p25"/>
          <p:cNvSpPr/>
          <p:nvPr/>
        </p:nvSpPr>
        <p:spPr>
          <a:xfrm>
            <a:off x="5635440" y="3490920"/>
            <a:ext cx="10454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100" spc="-1" strike="noStrike">
                <a:solidFill>
                  <a:schemeClr val="lt1"/>
                </a:solidFill>
                <a:latin typeface="Calibri"/>
                <a:ea typeface="Calibri"/>
              </a:rPr>
              <a:t>Cross Validation para cada modelo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Google Shape;472;p25"/>
          <p:cNvSpPr/>
          <p:nvPr/>
        </p:nvSpPr>
        <p:spPr>
          <a:xfrm>
            <a:off x="7854480" y="5063040"/>
            <a:ext cx="16686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100" spc="-1" strike="noStrike">
                <a:solidFill>
                  <a:schemeClr val="lt1"/>
                </a:solidFill>
                <a:latin typeface="Calibri"/>
                <a:ea typeface="Calibri"/>
              </a:rPr>
              <a:t>Elijo modelo con menor cantidad de errores en validación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Google Shape;473;p25"/>
          <p:cNvSpPr/>
          <p:nvPr/>
        </p:nvSpPr>
        <p:spPr>
          <a:xfrm>
            <a:off x="10293840" y="5613480"/>
            <a:ext cx="166860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100" spc="-1" strike="noStrike">
                <a:solidFill>
                  <a:schemeClr val="lt1"/>
                </a:solidFill>
                <a:latin typeface="Calibri"/>
                <a:ea typeface="Calibri"/>
              </a:rPr>
              <a:t>Utilizo todos los datos de train + validation para entrenar mi mejor modelo.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Google Shape;474;p25"/>
          <p:cNvSpPr/>
          <p:nvPr/>
        </p:nvSpPr>
        <p:spPr>
          <a:xfrm>
            <a:off x="6276600" y="1865160"/>
            <a:ext cx="274500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100" spc="-1" strike="noStrike">
                <a:solidFill>
                  <a:schemeClr val="lt1"/>
                </a:solidFill>
                <a:latin typeface="Calibri"/>
                <a:ea typeface="Calibri"/>
              </a:rPr>
              <a:t>Pruebo el modelo con datos completamente desconocidos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1" dur="indefinite" restart="never" nodeType="tmRoot">
          <p:childTnLst>
            <p:seq>
              <p:cTn id="432" dur="indefinite" nodeType="mainSeq">
                <p:childTnLst>
                  <p:par>
                    <p:cTn id="433" fill="hold">
                      <p:stCondLst>
                        <p:cond delay="indefinite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1" fill="hold">
                      <p:stCondLst>
                        <p:cond delay="indefinite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indefinite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Train – Test - Validation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Algunas consideraciones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Google Shape;481;p26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98" name="Google Shape;482;p26"/>
          <p:cNvSpPr/>
          <p:nvPr/>
        </p:nvSpPr>
        <p:spPr>
          <a:xfrm>
            <a:off x="587880" y="1935720"/>
            <a:ext cx="10515240" cy="20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600" spc="-1" strike="noStrike">
                <a:solidFill>
                  <a:schemeClr val="lt1"/>
                </a:solidFill>
                <a:latin typeface="Calibri"/>
                <a:ea typeface="Calibri"/>
              </a:rPr>
              <a:t>Cuidado al aplicar modificaciones en los conjuntos de train/test. </a:t>
            </a:r>
            <a:r>
              <a:rPr b="1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No podemos contaminar ambos conjuntos con datos del otro</a:t>
            </a:r>
            <a:r>
              <a:rPr b="0" lang="es-ES" sz="1600" spc="-1" strike="noStrike">
                <a:solidFill>
                  <a:schemeClr val="lt1"/>
                </a:solidFill>
                <a:latin typeface="Calibri"/>
                <a:ea typeface="Calibri"/>
              </a:rPr>
              <a:t>. El conjunto de test se separa de los datos y no se toca hasta el final. Todas las transformaciones que apliquemos en train, tiene que salir únicamente del conjunto de train.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600" spc="-1" strike="noStrike">
                <a:solidFill>
                  <a:schemeClr val="lt1"/>
                </a:solidFill>
                <a:latin typeface="Calibri"/>
                <a:ea typeface="Calibri"/>
              </a:rPr>
              <a:t>Ejemplo: si vamos a imputar missings en una columna por su media (imaginemos 31.24 con todos los datos), y sustituimos en train, estaríamos utilizando los datos de test para sustituir ese missing en train, cuando en realidad </a:t>
            </a:r>
            <a:r>
              <a:rPr b="1" lang="es-ES" sz="1600" spc="-1" strike="noStrike">
                <a:solidFill>
                  <a:schemeClr val="lt1"/>
                </a:solidFill>
                <a:latin typeface="Calibri"/>
                <a:ea typeface="Calibri"/>
              </a:rPr>
              <a:t>para los datos de train, los de test son completamente desconocidos</a:t>
            </a:r>
            <a:r>
              <a:rPr b="0" lang="es-ES" sz="1600" spc="-1" strike="noStrike">
                <a:solidFill>
                  <a:schemeClr val="lt1"/>
                </a:solidFill>
                <a:latin typeface="Calibri"/>
                <a:ea typeface="Calibri"/>
              </a:rPr>
              <a:t>. La media del conjunto de train podría ser de 22.67, muy lejos de la media de train + test.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Google Shape;482;p26"/>
          <p:cNvSpPr/>
          <p:nvPr/>
        </p:nvSpPr>
        <p:spPr>
          <a:xfrm>
            <a:off x="716760" y="5302800"/>
            <a:ext cx="10515240" cy="12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¿Cómo aplicar las transformaciones/limpieza obtenidas hasta ahora?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1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Scalers</a:t>
            </a: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: por ejemplo, si tenemos un StandardScaler en train, usar ese mismo StandardScaler en test.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1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Missings</a:t>
            </a: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: si aplicábamos la media/mediana/moda en train, aplicar esa misma métrica en test.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1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Feature reduction</a:t>
            </a: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: eliminar las features que quitábamos en train (y añadir los dummies vacíos en test)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1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Feature engineering</a:t>
            </a: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: mismos cálculos que en train.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Rectángulo 6"/>
          <p:cNvSpPr/>
          <p:nvPr/>
        </p:nvSpPr>
        <p:spPr>
          <a:xfrm>
            <a:off x="2825280" y="4431240"/>
            <a:ext cx="3787560" cy="29232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Train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Rectángulo 7"/>
          <p:cNvSpPr/>
          <p:nvPr/>
        </p:nvSpPr>
        <p:spPr>
          <a:xfrm>
            <a:off x="6708960" y="4431240"/>
            <a:ext cx="753480" cy="292320"/>
          </a:xfrm>
          <a:prstGeom prst="rect">
            <a:avLst/>
          </a:prstGeom>
          <a:solidFill>
            <a:srgbClr val="ed7d31"/>
          </a:solidFill>
          <a:ln>
            <a:solidFill>
              <a:srgbClr val="af5c24"/>
            </a:solidFill>
            <a:rou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050" spc="-1" strike="noStrike">
                <a:solidFill>
                  <a:schemeClr val="lt1"/>
                </a:solidFill>
                <a:latin typeface="Arial"/>
                <a:ea typeface="Arial"/>
              </a:rPr>
              <a:t>Test 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Google Shape;482;p26"/>
          <p:cNvSpPr/>
          <p:nvPr/>
        </p:nvSpPr>
        <p:spPr>
          <a:xfrm>
            <a:off x="3742200" y="4955760"/>
            <a:ext cx="1947960" cy="3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600" spc="-1" strike="noStrike">
                <a:solidFill>
                  <a:schemeClr val="lt1"/>
                </a:solidFill>
                <a:latin typeface="Calibri"/>
                <a:ea typeface="Calibri"/>
              </a:rPr>
              <a:t>22.67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Abrir llave 9"/>
          <p:cNvSpPr/>
          <p:nvPr/>
        </p:nvSpPr>
        <p:spPr>
          <a:xfrm rot="5400000">
            <a:off x="4951440" y="1873080"/>
            <a:ext cx="404280" cy="492012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solidFill>
              <a:srgbClr val="92d05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04" name="Abrir llave 10"/>
          <p:cNvSpPr/>
          <p:nvPr/>
        </p:nvSpPr>
        <p:spPr>
          <a:xfrm rot="16200000">
            <a:off x="4513680" y="2828880"/>
            <a:ext cx="404280" cy="398520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solidFill>
              <a:srgbClr val="92d05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05" name="Google Shape;482;p26"/>
          <p:cNvSpPr/>
          <p:nvPr/>
        </p:nvSpPr>
        <p:spPr>
          <a:xfrm>
            <a:off x="4179240" y="3836880"/>
            <a:ext cx="1947960" cy="3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600" spc="-1" strike="noStrike">
                <a:solidFill>
                  <a:schemeClr val="lt1"/>
                </a:solidFill>
                <a:latin typeface="Calibri"/>
                <a:ea typeface="Calibri"/>
              </a:rPr>
              <a:t>31.24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06" name="Conector: angular 2"/>
          <p:cNvCxnSpPr>
            <a:stCxn id="402" idx="3"/>
            <a:endCxn id="401" idx="2"/>
          </p:cNvCxnSpPr>
          <p:nvPr/>
        </p:nvCxnSpPr>
        <p:spPr>
          <a:xfrm flipV="1">
            <a:off x="5690160" y="4723560"/>
            <a:ext cx="1395720" cy="399600"/>
          </a:xfrm>
          <a:prstGeom prst="bentConnector2">
            <a:avLst/>
          </a:prstGeom>
          <a:ln w="22225">
            <a:solidFill>
              <a:srgbClr val="90ce4f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2439360" y="1890720"/>
            <a:ext cx="7048080" cy="3076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Esto lo veo muy complicado </a:t>
            </a:r>
            <a:r>
              <a:rPr b="0" lang="es-ES" sz="4400" spc="-1" strike="noStrike">
                <a:solidFill>
                  <a:srgbClr val="729fcf"/>
                </a:solidFill>
                <a:latin typeface="Calibri"/>
                <a:ea typeface="Calibri"/>
              </a:rPr>
              <a:t>¿Cómo voy a programar un modelo?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92;p28" descr="Deep Learning (MEMES AHEAD) | Data Science and Machine Learning | Kaggle"/>
          <p:cNvPicPr/>
          <p:nvPr/>
        </p:nvPicPr>
        <p:blipFill>
          <a:blip r:embed="rId1"/>
          <a:stretch/>
        </p:blipFill>
        <p:spPr>
          <a:xfrm>
            <a:off x="5713920" y="1892160"/>
            <a:ext cx="4849200" cy="4083120"/>
          </a:xfrm>
          <a:prstGeom prst="rect">
            <a:avLst/>
          </a:prstGeom>
          <a:ln w="0">
            <a:noFill/>
          </a:ln>
        </p:spPr>
      </p:pic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Machine Learning en Python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Google Shape;494;p28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11" name="Google Shape;495;p28"/>
          <p:cNvSpPr/>
          <p:nvPr/>
        </p:nvSpPr>
        <p:spPr>
          <a:xfrm>
            <a:off x="1406520" y="3348000"/>
            <a:ext cx="2119680" cy="3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chemeClr val="lt1"/>
                </a:solidFill>
                <a:latin typeface="Calibri"/>
                <a:ea typeface="Calibri"/>
              </a:rPr>
              <a:t>sklearn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2" name="Google Shape;498;p28" descr="Regalos y productos: Scikit Learn | Redbubble"/>
          <p:cNvPicPr/>
          <p:nvPr/>
        </p:nvPicPr>
        <p:blipFill>
          <a:blip r:embed="rId2"/>
          <a:srcRect l="6236" t="24398" r="6236" b="23169"/>
          <a:stretch/>
        </p:blipFill>
        <p:spPr>
          <a:xfrm>
            <a:off x="1343880" y="1892160"/>
            <a:ext cx="2410560" cy="144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1909080" y="4514760"/>
            <a:ext cx="8178480" cy="1913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000" spc="-1" strike="noStrike">
                <a:solidFill>
                  <a:schemeClr val="lt1"/>
                </a:solidFill>
                <a:latin typeface="Calibri"/>
                <a:ea typeface="Calibri"/>
              </a:rPr>
              <a:t>Mucha info</a:t>
            </a:r>
            <a:br>
              <a:rPr sz="4000"/>
            </a:br>
            <a:r>
              <a:rPr b="0" lang="es-ES" sz="4000" spc="-1" strike="noStrike">
                <a:solidFill>
                  <a:srgbClr val="c00000"/>
                </a:solidFill>
                <a:latin typeface="Calibri"/>
                <a:ea typeface="Calibri"/>
              </a:rPr>
              <a:t>Vamos a resumir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4" name="Google Shape;504;p29" descr="Re What GIF - Re What Umm - Descubre &amp; Comparte GIFs"/>
          <p:cNvPicPr/>
          <p:nvPr/>
        </p:nvPicPr>
        <p:blipFill>
          <a:blip r:embed="rId1"/>
          <a:stretch/>
        </p:blipFill>
        <p:spPr>
          <a:xfrm>
            <a:off x="4308480" y="798840"/>
            <a:ext cx="3158280" cy="3715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Resumen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Google Shape;510;p30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17" name="Google Shape;511;p30"/>
          <p:cNvSpPr/>
          <p:nvPr/>
        </p:nvSpPr>
        <p:spPr>
          <a:xfrm>
            <a:off x="587880" y="1945440"/>
            <a:ext cx="10033560" cy="429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600" spc="-1" strike="noStrike" u="sng">
                <a:solidFill>
                  <a:schemeClr val="lt1"/>
                </a:solidFill>
                <a:uFillTx/>
                <a:latin typeface="Calibri"/>
                <a:ea typeface="Calibri"/>
              </a:rPr>
              <a:t>Modelo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A partir de una serie de inputs (features), podré realizar predicciones sobre una variable objetivo (target)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600" spc="-1" strike="noStrike" u="sng">
                <a:solidFill>
                  <a:schemeClr val="lt1"/>
                </a:solidFill>
                <a:uFillTx/>
                <a:latin typeface="Calibri"/>
                <a:ea typeface="Calibri"/>
              </a:rPr>
              <a:t>¿Qué necesito?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Datos, y un buen lenguaje de programación con librerías de machine learning (sklearn y keras de python)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600" spc="-1" strike="noStrike" u="sng">
                <a:solidFill>
                  <a:schemeClr val="lt1"/>
                </a:solidFill>
                <a:uFillTx/>
                <a:latin typeface="Calibri"/>
                <a:ea typeface="Calibri"/>
              </a:rPr>
              <a:t>¿Cómo construyo un modelo?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Entrenándolo con datos y buscando su error mínimo. Para ello hay que aplicar el método científico.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Divido los datos en train + test. El conjunto de train a su vez lo divido en train + validation que utilizo para escoger el mejor modelo. Pruebo el mejor modelo en test. Siempre busco que tenga pocos errores y generalice bien.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600" spc="-1" strike="noStrike" u="sng">
                <a:solidFill>
                  <a:schemeClr val="lt1"/>
                </a:solidFill>
                <a:uFillTx/>
                <a:latin typeface="Calibri"/>
                <a:ea typeface="Calibri"/>
              </a:rPr>
              <a:t>Objetivo del modelo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Pocos errores y que generalice bien cuando se enfrente a datos nuevos. Tiene que ser capaz de predecir bien ante datos futuros.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600" spc="-1" strike="noStrike" u="sng">
                <a:solidFill>
                  <a:schemeClr val="lt1"/>
                </a:solidFill>
                <a:uFillTx/>
                <a:latin typeface="Calibri"/>
                <a:ea typeface="Calibri"/>
              </a:rPr>
              <a:t>Overfitting y Underfitting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lt1"/>
                </a:solidFill>
                <a:latin typeface="Calibri"/>
                <a:ea typeface="Calibri"/>
              </a:rPr>
              <a:t>Underfitting es que el modelo no encuentra bien las asociaciones entre los datos, y overfitting que se ajusta demasiado al entrenamiento. En ambos casos no va a generalizar bien el modelo. Hay que buscar el equilibrio (bias vs variance)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</TotalTime>
  <Application>LibreOffice/7.5.3.2$Windows_X86_64 LibreOffice_project/9f56dff12ba03b9acd7730a5a481eea045e468f3</Application>
  <AppVersion>15.0000</AppVersion>
  <Words>1912</Words>
  <Paragraphs>312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2020-10-12T14:09:12Z</dcterms:created>
  <dc:creator>Daniel Ortiz</dc:creator>
  <dc:description/>
  <dc:language>es-ES</dc:language>
  <cp:lastModifiedBy/>
  <dcterms:modified xsi:type="dcterms:W3CDTF">2025-03-09T21:51:36Z</dcterms:modified>
  <cp:revision>4</cp:revision>
  <dc:subject/>
  <dc:title>Machine Learning Conceptos Aprendizaje Supervisado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31</vt:i4>
  </property>
  <property fmtid="{D5CDD505-2E9C-101B-9397-08002B2CF9AE}" pid="3" name="PresentationFormat">
    <vt:lpwstr>Panorámica</vt:lpwstr>
  </property>
  <property fmtid="{D5CDD505-2E9C-101B-9397-08002B2CF9AE}" pid="4" name="Slides">
    <vt:i4>31</vt:i4>
  </property>
</Properties>
</file>